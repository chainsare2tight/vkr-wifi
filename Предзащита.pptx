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2.xml" ContentType="application/vnd.openxmlformats-officedocument.them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F9D2CF1-9D19-4831-9D53-D77C5812903C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5A88BF3-0B02-47C7-92F5-73AF70A76098}" type="slidenum"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984E9D1-9E6D-4F43-8C54-0AA058829764}" type="slidenum"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71D3FAC-3E0A-425A-B757-9A9812099D7F}" type="slidenum"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3CA6DC-15B7-4109-8057-BD8EF41C84D1}" type="slidenum"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991044-A55A-4621-B566-1E6B3DA38142}" type="slidenum"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CE067B-5772-4F0D-8A21-7811E5706BE6}" type="slidenum"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FACE429-835D-40E5-B597-4F68E95512D3}" type="slidenum"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AC065A-7138-426A-A18B-420A6690F866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C3B0E6-B0C1-499A-81FF-7914B3F775E0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2D9B3D-9014-4C72-A25F-B558EB2A210A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A3CCBB-1AAB-4C47-87CE-6FDB442FF9D4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F419E2-BFFB-4C20-91FE-892415D134CF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D6EE88-BB15-498D-8850-B63B60445C02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C63977-BA28-45E5-B02C-9FE770058FB2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7DDC03-AE66-4C19-BA25-7705389F50CA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746DBD-14D9-4D68-A0E4-88600EC06842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92651A-1BB3-4C69-B2EC-10DC8DA30E54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Вставка рисунка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CDEFF5-906B-4CE6-83C7-CBEC727B8F7C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Прямоугольник 1"/>
          <p:cNvSpPr/>
          <p:nvPr/>
        </p:nvSpPr>
        <p:spPr>
          <a:xfrm>
            <a:off x="-124560" y="0"/>
            <a:ext cx="12316320" cy="6857640"/>
          </a:xfrm>
          <a:prstGeom prst="rect">
            <a:avLst/>
          </a:prstGeom>
          <a:solidFill>
            <a:srgbClr val="256569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6" name="Рисунок 3" descr=""/>
          <p:cNvPicPr/>
          <p:nvPr/>
        </p:nvPicPr>
        <p:blipFill>
          <a:blip r:embed="rId1"/>
          <a:srcRect l="0" t="80000" r="0" b="0"/>
          <a:stretch/>
        </p:blipFill>
        <p:spPr>
          <a:xfrm>
            <a:off x="628560" y="376560"/>
            <a:ext cx="313092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Box 4"/>
          <p:cNvSpPr/>
          <p:nvPr/>
        </p:nvSpPr>
        <p:spPr>
          <a:xfrm>
            <a:off x="180000" y="1781280"/>
            <a:ext cx="954000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ru-RU" sz="3600" strike="noStrike" u="none">
                <a:solidFill>
                  <a:schemeClr val="lt1"/>
                </a:solidFill>
                <a:effectLst/>
                <a:uFillTx/>
                <a:latin typeface="Book Antiqua"/>
              </a:rPr>
              <a:t>Мультимодальная модель обнаружения незарегистрированных Wi-Fi точек доступа в кредитно-финансовых организациях </a:t>
            </a:r>
            <a:endParaRPr b="0" lang="ru-RU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Рисунок 5" descr=""/>
          <p:cNvPicPr/>
          <p:nvPr/>
        </p:nvPicPr>
        <p:blipFill>
          <a:blip r:embed="rId2"/>
          <a:stretch/>
        </p:blipFill>
        <p:spPr>
          <a:xfrm>
            <a:off x="6123600" y="493920"/>
            <a:ext cx="6068160" cy="636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Прямоугольник 6"/>
          <p:cNvSpPr/>
          <p:nvPr/>
        </p:nvSpPr>
        <p:spPr>
          <a:xfrm flipV="1">
            <a:off x="272880" y="4613400"/>
            <a:ext cx="9485640" cy="78120"/>
          </a:xfrm>
          <a:prstGeom prst="rect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7"/>
          <p:cNvSpPr/>
          <p:nvPr/>
        </p:nvSpPr>
        <p:spPr>
          <a:xfrm>
            <a:off x="272880" y="5074200"/>
            <a:ext cx="6604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2800" strike="noStrike" u="none">
                <a:solidFill>
                  <a:schemeClr val="lt1"/>
                </a:solidFill>
                <a:effectLst/>
                <a:uFillTx/>
                <a:latin typeface="Book Antiqua"/>
              </a:rPr>
              <a:t>Выполнил:  </a:t>
            </a: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Book Antiqua"/>
              </a:rPr>
              <a:t>Ботников Дмитрий</a:t>
            </a:r>
            <a:br>
              <a:rPr sz="2800"/>
            </a:br>
            <a:r>
              <a:rPr b="0" lang="ru-RU" sz="2800" strike="noStrike" u="none">
                <a:solidFill>
                  <a:schemeClr val="lt1"/>
                </a:solidFill>
                <a:effectLst/>
                <a:uFillTx/>
                <a:latin typeface="Book Antiqua"/>
              </a:rPr>
              <a:t>Руководитель: к.т.н, доцент 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ru-RU" sz="2800" strike="noStrike" u="none">
                <a:solidFill>
                  <a:schemeClr val="lt1"/>
                </a:solidFill>
                <a:effectLst/>
                <a:uFillTx/>
                <a:latin typeface="Book Antiqua"/>
              </a:rPr>
              <a:t>Носков Денис Павлович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6"/>
          <p:cNvSpPr/>
          <p:nvPr/>
        </p:nvSpPr>
        <p:spPr>
          <a:xfrm>
            <a:off x="2115000" y="975960"/>
            <a:ext cx="77720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Book Antiqua"/>
              </a:rPr>
              <a:t>Рост количества инцидентов ИБ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Рисунок 7" descr=""/>
          <p:cNvPicPr/>
          <p:nvPr/>
        </p:nvPicPr>
        <p:blipFill>
          <a:blip r:embed="rId1"/>
          <a:srcRect l="0" t="12847" r="0" b="0"/>
          <a:stretch/>
        </p:blipFill>
        <p:spPr>
          <a:xfrm>
            <a:off x="2401560" y="1975320"/>
            <a:ext cx="6890400" cy="261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Box 9"/>
          <p:cNvSpPr/>
          <p:nvPr/>
        </p:nvSpPr>
        <p:spPr>
          <a:xfrm>
            <a:off x="1451520" y="4462560"/>
            <a:ext cx="87901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trike="noStrike" u="none">
                <a:solidFill>
                  <a:srgbClr val="535353"/>
                </a:solidFill>
                <a:effectLst/>
                <a:uFillTx/>
                <a:latin typeface="Book Antiqua"/>
                <a:ea typeface="Times New Roman"/>
              </a:rPr>
              <a:t>Рисунок  1 – Сравнительная характеристика инцидентов ИБ и ущерба от инцидентов за 1 квартал 2024 и 2025 годов.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1566720" y="1379880"/>
            <a:ext cx="855972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535353"/>
              </a:buClr>
              <a:buFont typeface="OpenSymbol"/>
              <a:buAutoNum type="arabicPeriod"/>
            </a:pPr>
            <a:r>
              <a:rPr b="1" lang="ru-RU" sz="1400" strike="noStrike" u="none">
                <a:solidFill>
                  <a:srgbClr val="535353"/>
                </a:solidFill>
                <a:effectLst/>
                <a:uFillTx/>
                <a:latin typeface="Book Antiqua"/>
                <a:ea typeface="Times New Roman"/>
              </a:rPr>
              <a:t>Обзор Центрального банка РФ об инцидентах ИБ при переводе денежных средств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535353"/>
                </a:solidFill>
                <a:effectLst/>
                <a:uFillTx/>
                <a:latin typeface="Book Antiqua"/>
                <a:ea typeface="Times New Roman"/>
              </a:rPr>
              <a:t> Документы: «Обзор отчетности об инцидентах информационной безопасности» — I квартал 2024 и 2025 годов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1815840" y="4946760"/>
            <a:ext cx="8640000" cy="20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400" strike="noStrike" u="none">
                <a:solidFill>
                  <a:srgbClr val="535353"/>
                </a:solidFill>
                <a:effectLst/>
                <a:uFillTx/>
                <a:latin typeface="Book Antiqua"/>
              </a:rPr>
              <a:t>2. Доклады ФСТЭК России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535353"/>
                </a:solidFill>
                <a:effectLst/>
                <a:uFillTx/>
                <a:latin typeface="Book Antiqua"/>
              </a:rPr>
              <a:t> Документ: «Обзор угроз безопасности информации за 2024 год»</a:t>
            </a:r>
            <a:r>
              <a:rPr b="0" lang="en-US" sz="1400" strike="noStrike" u="none">
                <a:solidFill>
                  <a:srgbClr val="535353"/>
                </a:solidFill>
                <a:effectLst/>
                <a:uFillTx/>
                <a:latin typeface="Book Antiqua"/>
              </a:rPr>
              <a:t> </a:t>
            </a:r>
            <a:r>
              <a:rPr b="0" lang="ru-RU" sz="1400" strike="noStrike" u="none">
                <a:solidFill>
                  <a:srgbClr val="535353"/>
                </a:solidFill>
                <a:effectLst/>
                <a:uFillTx/>
                <a:latin typeface="Book Antiqua"/>
              </a:rPr>
              <a:t>подтверждает: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535353"/>
              </a:buClr>
              <a:buFont typeface="OpenSymbol"/>
              <a:buChar char="-"/>
            </a:pPr>
            <a:r>
              <a:rPr b="0" lang="ru-RU" sz="1400" strike="noStrike" u="none">
                <a:solidFill>
                  <a:srgbClr val="535353"/>
                </a:solidFill>
                <a:effectLst/>
                <a:uFillTx/>
                <a:latin typeface="Book Antiqua"/>
              </a:rPr>
              <a:t>Увеличение атак на критическую информационную инфраструктуру (КИИ);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535353"/>
              </a:buClr>
              <a:buFont typeface="OpenSymbol"/>
              <a:buChar char="-"/>
            </a:pPr>
            <a:r>
              <a:rPr b="0" lang="ru-RU" sz="1400" strike="noStrike" u="none">
                <a:solidFill>
                  <a:srgbClr val="535353"/>
                </a:solidFill>
                <a:effectLst/>
                <a:uFillTx/>
                <a:latin typeface="Book Antiqua"/>
              </a:rPr>
              <a:t>Рост применения специализированного вредоносного ПО;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535353"/>
              </a:buClr>
              <a:buFont typeface="OpenSymbol"/>
              <a:buChar char="-"/>
            </a:pPr>
            <a:r>
              <a:rPr b="0" lang="ru-RU" sz="1400" strike="noStrike" u="none">
                <a:solidFill>
                  <a:srgbClr val="535353"/>
                </a:solidFill>
                <a:effectLst/>
                <a:uFillTx/>
                <a:latin typeface="Book Antiqua"/>
              </a:rPr>
              <a:t>Увеличение числа инцидентов с утечками персональных данных.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535353"/>
              </a:buClr>
              <a:buFont typeface="OpenSymbol"/>
              <a:buAutoNum type="arabicPeriod" startAt="3"/>
            </a:pPr>
            <a:r>
              <a:rPr b="1" lang="ru-RU" sz="1400" strike="noStrike" u="none">
                <a:solidFill>
                  <a:srgbClr val="535353"/>
                </a:solidFill>
                <a:effectLst/>
                <a:uFillTx/>
                <a:latin typeface="Book Antiqua"/>
              </a:rPr>
              <a:t>Роскомнадзор — Реестр утечек ПДн ежеквартально публикует отчет об: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535353"/>
              </a:buClr>
              <a:buFont typeface="OpenSymbol"/>
              <a:buChar char="-"/>
            </a:pPr>
            <a:r>
              <a:rPr b="0" lang="ru-RU" sz="1400" strike="noStrike" u="none">
                <a:solidFill>
                  <a:srgbClr val="535353"/>
                </a:solidFill>
                <a:effectLst/>
                <a:uFillTx/>
                <a:latin typeface="Book Antiqua"/>
              </a:rPr>
              <a:t>Утечках ПДн из компаний и госструктур;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535353"/>
              </a:buClr>
              <a:buFont typeface="OpenSymbol"/>
              <a:buChar char="-"/>
            </a:pPr>
            <a:r>
              <a:rPr b="0" lang="ru-RU" sz="1400" strike="noStrike" u="none">
                <a:solidFill>
                  <a:srgbClr val="535353"/>
                </a:solidFill>
                <a:effectLst/>
                <a:uFillTx/>
                <a:latin typeface="Book Antiqua"/>
              </a:rPr>
              <a:t>Числе зафиксированных инцидентов (в 2023–2024 годах рост более чем на 20%).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" name="Группа 1"/>
          <p:cNvGrpSpPr/>
          <p:nvPr/>
        </p:nvGrpSpPr>
        <p:grpSpPr>
          <a:xfrm>
            <a:off x="0" y="427680"/>
            <a:ext cx="12035880" cy="610920"/>
            <a:chOff x="0" y="427680"/>
            <a:chExt cx="12035880" cy="610920"/>
          </a:xfrm>
        </p:grpSpPr>
        <p:pic>
          <p:nvPicPr>
            <p:cNvPr id="77" name="Рисунок 4" descr=""/>
            <p:cNvPicPr/>
            <p:nvPr/>
          </p:nvPicPr>
          <p:blipFill>
            <a:blip r:embed="rId2"/>
            <a:srcRect l="0" t="23835" r="0" b="55754"/>
            <a:stretch/>
          </p:blipFill>
          <p:spPr>
            <a:xfrm>
              <a:off x="10311840" y="427680"/>
              <a:ext cx="1724040" cy="610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8" name="Пятиугольник 4"/>
            <p:cNvSpPr/>
            <p:nvPr/>
          </p:nvSpPr>
          <p:spPr>
            <a:xfrm>
              <a:off x="0" y="484920"/>
              <a:ext cx="5389200" cy="553680"/>
            </a:xfrm>
            <a:prstGeom prst="homePlate">
              <a:avLst>
                <a:gd name="adj" fmla="val 50000"/>
              </a:avLst>
            </a:prstGeom>
            <a:solidFill>
              <a:srgbClr val="2565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9" name="TextBox 14"/>
            <p:cNvSpPr/>
            <p:nvPr/>
          </p:nvSpPr>
          <p:spPr>
            <a:xfrm>
              <a:off x="141120" y="588960"/>
              <a:ext cx="304884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ru-RU" sz="1800" strike="noStrike" u="none">
                  <a:solidFill>
                    <a:schemeClr val="lt1"/>
                  </a:solidFill>
                  <a:effectLst/>
                  <a:uFillTx/>
                  <a:latin typeface="Book Antiqua"/>
                </a:rPr>
                <a:t>АКТУАЛЬНОСТЬ ТЕМЫ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5"/>
          <p:cNvSpPr/>
          <p:nvPr/>
        </p:nvSpPr>
        <p:spPr>
          <a:xfrm>
            <a:off x="1665720" y="541800"/>
            <a:ext cx="17985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Book Antiqua"/>
              </a:rPr>
              <a:t>Цель и задачи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720000" y="1119240"/>
            <a:ext cx="10980000" cy="54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ru-RU" sz="1800" strike="noStrike" u="none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Book Antiqua"/>
              </a:rPr>
              <a:t>     Цель:</a:t>
            </a:r>
            <a:r>
              <a:rPr b="0" lang="ru-RU" sz="1800" strike="noStrike" u="none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Book Antiqua"/>
              </a:rPr>
              <a:t> разработка мультимодальной модели обнаружения незарегистрированных Wi-Fi точек доступа в кредитно-финансовых организациях, позволяющей повысить оперативность их выявления как нарушителей политики информационной безопасности.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algn="l" pos="0"/>
              </a:tabLst>
            </a:pPr>
            <a:r>
              <a:rPr b="1" lang="ru-RU" sz="1800" strike="noStrike" u="none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Book Antiqua"/>
              </a:rPr>
              <a:t>Объект исследования: </a:t>
            </a:r>
            <a:r>
              <a:rPr b="0" lang="ru-RU" sz="1800" strike="noStrike" u="none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Book Antiqua"/>
              </a:rPr>
              <a:t>беспроводная среда и сетевая инфраструктура кредитно-финансовых организаций с точки зрения угроз, создаваемых незарегистрированными Wi-Fi точками доступа.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algn="l" pos="0"/>
              </a:tabLst>
            </a:pPr>
            <a:r>
              <a:rPr b="1" lang="ru-RU" sz="1800" strike="noStrike" u="none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Book Antiqua"/>
              </a:rPr>
              <a:t>Предмет исследования: </a:t>
            </a:r>
            <a:r>
              <a:rPr b="0" lang="ru-RU" sz="1800" strike="noStrike" u="none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Book Antiqua"/>
              </a:rPr>
              <a:t>методы и алгоритмы пассивного обнаружения незарегистрированных Wi-Fi точек доступа как нарушителей политики информационной безопасности.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algn="l" pos="0"/>
              </a:tabLst>
            </a:pPr>
            <a:r>
              <a:rPr b="1" lang="ru-RU" sz="1800" strike="noStrike" u="none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Book Antiqua"/>
              </a:rPr>
              <a:t>Задачи: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457200" algn="just" defTabSz="457200">
              <a:lnSpc>
                <a:spcPct val="100000"/>
              </a:lnSpc>
              <a:buClr>
                <a:srgbClr val="535353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Book Antiqua"/>
              </a:rPr>
              <a:t>Провести анализ предметной области в части существующих подходов к обнаружению источников излучения Wi-Fi сетей.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457200" algn="just" defTabSz="457200">
              <a:lnSpc>
                <a:spcPct val="100000"/>
              </a:lnSpc>
              <a:buClr>
                <a:srgbClr val="535353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Book Antiqua"/>
              </a:rPr>
              <a:t>Провести анализ существующих подходов к обеспечению безопасности Wi-Fi сетей в кредитно-финансовых организациях.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457200" algn="just" defTabSz="457200">
              <a:lnSpc>
                <a:spcPct val="100000"/>
              </a:lnSpc>
              <a:buClr>
                <a:srgbClr val="535353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Book Antiqua"/>
              </a:rPr>
              <a:t>Разработать мультимодальную модель обнаружения незарегистрированных Wi-Fi точек доступа в кредитно-финансовых организациях и сформировать требования к программно-аппаратному комплексу, ее реализующему.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457200" algn="just" defTabSz="457200">
              <a:lnSpc>
                <a:spcPct val="100000"/>
              </a:lnSpc>
              <a:buClr>
                <a:srgbClr val="535353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Book Antiqua"/>
              </a:rPr>
              <a:t>Разработать практические рекомендации по применению разработанных решений и провести оценку их эффективности.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" name="Группа 7"/>
          <p:cNvGrpSpPr/>
          <p:nvPr/>
        </p:nvGrpSpPr>
        <p:grpSpPr>
          <a:xfrm>
            <a:off x="0" y="427680"/>
            <a:ext cx="12035880" cy="610920"/>
            <a:chOff x="0" y="427680"/>
            <a:chExt cx="12035880" cy="610920"/>
          </a:xfrm>
        </p:grpSpPr>
        <p:pic>
          <p:nvPicPr>
            <p:cNvPr id="83" name="Рисунок 8" descr=""/>
            <p:cNvPicPr/>
            <p:nvPr/>
          </p:nvPicPr>
          <p:blipFill>
            <a:blip r:embed="rId1"/>
            <a:srcRect l="0" t="23835" r="0" b="55754"/>
            <a:stretch/>
          </p:blipFill>
          <p:spPr>
            <a:xfrm>
              <a:off x="10311840" y="427680"/>
              <a:ext cx="1724040" cy="610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4" name="Пятиугольник 4"/>
            <p:cNvSpPr/>
            <p:nvPr/>
          </p:nvSpPr>
          <p:spPr>
            <a:xfrm>
              <a:off x="0" y="484920"/>
              <a:ext cx="5389200" cy="553680"/>
            </a:xfrm>
            <a:prstGeom prst="homePlate">
              <a:avLst>
                <a:gd name="adj" fmla="val 50000"/>
              </a:avLst>
            </a:prstGeom>
            <a:solidFill>
              <a:srgbClr val="2565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5" name="TextBox 10"/>
            <p:cNvSpPr/>
            <p:nvPr/>
          </p:nvSpPr>
          <p:spPr>
            <a:xfrm>
              <a:off x="141120" y="588960"/>
              <a:ext cx="273636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ru-RU" sz="1800" strike="noStrike" u="none">
                  <a:solidFill>
                    <a:schemeClr val="lt1"/>
                  </a:solidFill>
                  <a:effectLst/>
                  <a:uFillTx/>
                  <a:latin typeface="Book Antiqua"/>
                </a:rPr>
                <a:t>ЦЕЛЬ И ЗАДАЧИ ВКР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6"/>
          <p:cNvSpPr/>
          <p:nvPr/>
        </p:nvSpPr>
        <p:spPr>
          <a:xfrm>
            <a:off x="1851840" y="1578600"/>
            <a:ext cx="871236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ru-RU" sz="16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Book Antiqua"/>
              </a:rPr>
              <a:t>1.  Проанализированы отечественные и иностранные  показатели качества оценки биометрических систем.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8"/>
          <p:cNvSpPr/>
          <p:nvPr/>
        </p:nvSpPr>
        <p:spPr>
          <a:xfrm>
            <a:off x="1523880" y="1038960"/>
            <a:ext cx="91558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ru-RU" sz="1800" strike="noStrike" u="sng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Book Antiqua"/>
              </a:rPr>
              <a:t>Провести анализ существующих биометрических технологий аутентификации и выявить их преимущества и недостатки;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1"/>
          <p:cNvSpPr/>
          <p:nvPr/>
        </p:nvSpPr>
        <p:spPr>
          <a:xfrm>
            <a:off x="1523880" y="2427840"/>
            <a:ext cx="91065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ctr">
            <a:sp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trike="noStrike" u="none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Book Antiqua"/>
                <a:ea typeface="Times New Roman"/>
              </a:rPr>
              <a:t>Таблица 1 – Анализ отечественных и иностранных метрик оценки качества биометрических систем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9" name="Таблица 12"/>
          <p:cNvGraphicFramePr/>
          <p:nvPr/>
        </p:nvGraphicFramePr>
        <p:xfrm>
          <a:off x="1736280" y="2747880"/>
          <a:ext cx="8764560" cy="3948120"/>
        </p:xfrm>
        <a:graphic>
          <a:graphicData uri="http://schemas.openxmlformats.org/drawingml/2006/table">
            <a:tbl>
              <a:tblPr/>
              <a:tblGrid>
                <a:gridCol w="1362600"/>
                <a:gridCol w="1647720"/>
                <a:gridCol w="2158200"/>
                <a:gridCol w="1663560"/>
                <a:gridCol w="1931760"/>
              </a:tblGrid>
              <a:tr h="4989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3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Book Antiqua"/>
                        </a:rPr>
                        <a:t>Международная метрика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3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Book Antiqua"/>
                        </a:rPr>
                        <a:t>Российский аналог / термин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3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Book Antiqua"/>
                        </a:rPr>
                        <a:t>Описание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3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Book Antiqua"/>
                        </a:rPr>
                        <a:t>Источники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3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Book Antiqua"/>
                        </a:rPr>
                        <a:t>Особенности применения в РФ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45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FAR (False Acceptance Rate)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Уровень ложного допуска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Ошибка I рода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Вероятность, что система ошибочно примет чужого пользователя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ISO/IEC 19795-1,</a:t>
                      </a:r>
                      <a:r>
                        <a:rPr b="0" lang="ru-RU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ГОСТ Р 52633.5-2017,ЕБС (ЦБ РФ)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Нормируется в ЕБС: FAR ≤ 0.01%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701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FRR (False Rejection Rate)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Уровень ложного отказа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Ошибка II рода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Вероятность, что система отклонит легитимного пользователя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ISO/IEC 19795-1,ГОСТ Р 52633.5-2017,ЕБС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Допустимый уровень в ЕБС: FRR ≤ 1%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79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EER (Equal Error Rate)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Точка равных ошибок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Значение, при котором FAR = FRR. Используется как обобщённая мера качества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ISO/IEC 19795-1, лабораторные испытания ГОСТ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Применяется для оценки и сравнения алгоритмов при тестировании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851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FTE (Failure to Enroll)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Отказ при регистрации шаблона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Процент случаев, когда система не может зарегистрировать пользователя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ISO/IEC 19795-1,ГОСТ Р 52633.5-2017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Влияет на показатель доступности системы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281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И др.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ru-RU" sz="1300" strike="noStrike" u="none">
                        <a:solidFill>
                          <a:schemeClr val="dk1"/>
                        </a:solidFill>
                        <a:effectLst/>
                        <a:uFillTx/>
                        <a:latin typeface="Book Antiqua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ru-RU" sz="1300" strike="noStrike" u="none">
                        <a:solidFill>
                          <a:schemeClr val="dk1"/>
                        </a:solidFill>
                        <a:effectLst/>
                        <a:uFillTx/>
                        <a:latin typeface="Book Antiqua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ru-RU" sz="1300" strike="noStrike" u="none">
                        <a:solidFill>
                          <a:schemeClr val="dk1"/>
                        </a:solidFill>
                        <a:effectLst/>
                        <a:uFillTx/>
                        <a:latin typeface="Book Antiqua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ru-RU" sz="1300" strike="noStrike" u="none">
                        <a:solidFill>
                          <a:schemeClr val="dk1"/>
                        </a:solidFill>
                        <a:effectLst/>
                        <a:uFillTx/>
                        <a:latin typeface="Book Antiqua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90" name="Группа 9"/>
          <p:cNvGrpSpPr/>
          <p:nvPr/>
        </p:nvGrpSpPr>
        <p:grpSpPr>
          <a:xfrm>
            <a:off x="0" y="427680"/>
            <a:ext cx="12035880" cy="610920"/>
            <a:chOff x="0" y="427680"/>
            <a:chExt cx="12035880" cy="610920"/>
          </a:xfrm>
        </p:grpSpPr>
        <p:pic>
          <p:nvPicPr>
            <p:cNvPr id="91" name="Рисунок 11" descr=""/>
            <p:cNvPicPr/>
            <p:nvPr/>
          </p:nvPicPr>
          <p:blipFill>
            <a:blip r:embed="rId1"/>
            <a:srcRect l="0" t="23835" r="0" b="55754"/>
            <a:stretch/>
          </p:blipFill>
          <p:spPr>
            <a:xfrm>
              <a:off x="10311840" y="427680"/>
              <a:ext cx="1724040" cy="610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2" name="Пятиугольник 4"/>
            <p:cNvSpPr/>
            <p:nvPr/>
          </p:nvSpPr>
          <p:spPr>
            <a:xfrm>
              <a:off x="0" y="484920"/>
              <a:ext cx="5389200" cy="553680"/>
            </a:xfrm>
            <a:prstGeom prst="homePlate">
              <a:avLst>
                <a:gd name="adj" fmla="val 50000"/>
              </a:avLst>
            </a:prstGeom>
            <a:solidFill>
              <a:srgbClr val="2565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3" name="TextBox 14"/>
            <p:cNvSpPr/>
            <p:nvPr/>
          </p:nvSpPr>
          <p:spPr>
            <a:xfrm>
              <a:off x="141120" y="588960"/>
              <a:ext cx="485208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ru-RU" sz="1800" strike="noStrike" u="none">
                  <a:solidFill>
                    <a:schemeClr val="lt1"/>
                  </a:solidFill>
                  <a:effectLst/>
                  <a:uFillTx/>
                  <a:latin typeface="Book Antiqua"/>
                </a:rPr>
                <a:t>Результаты решения частной задачи № 1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5"/>
          <p:cNvSpPr/>
          <p:nvPr/>
        </p:nvSpPr>
        <p:spPr>
          <a:xfrm>
            <a:off x="1665720" y="541800"/>
            <a:ext cx="49100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Book Antiqua"/>
              </a:rPr>
              <a:t>Результаты решения частной задачи № 2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1705320" y="1854360"/>
            <a:ext cx="87807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457200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Book Antiqua"/>
              </a:rPr>
              <a:t>Анализ существующих биометрических решений в банках. Изучены решения Единой Биометрической Системы.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7"/>
          <p:cNvSpPr/>
          <p:nvPr/>
        </p:nvSpPr>
        <p:spPr>
          <a:xfrm>
            <a:off x="1665720" y="1105560"/>
            <a:ext cx="86788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ru-RU" sz="1800" strike="noStrike" u="sng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Book Antiqua"/>
              </a:rPr>
              <a:t>Провести анализ применения биометрических технологий в системах защиты информации в финансово-кредитных учреждениях;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4"/>
          <p:cNvSpPr/>
          <p:nvPr/>
        </p:nvSpPr>
        <p:spPr>
          <a:xfrm>
            <a:off x="2066400" y="2623680"/>
            <a:ext cx="8601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trike="noStrike" u="none">
                <a:solidFill>
                  <a:srgbClr val="535353"/>
                </a:solidFill>
                <a:effectLst/>
                <a:uFillTx/>
                <a:latin typeface="Book Antiqua"/>
                <a:ea typeface="Times New Roman"/>
              </a:rPr>
              <a:t>Таблица 2 – Основные типы биометрических характеристик, применяемых в ЕБС на 2025 год.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8" name="Таблица 15"/>
          <p:cNvGraphicFramePr/>
          <p:nvPr/>
        </p:nvGraphicFramePr>
        <p:xfrm>
          <a:off x="1705320" y="2931480"/>
          <a:ext cx="8780760" cy="3605040"/>
        </p:xfrm>
        <a:graphic>
          <a:graphicData uri="http://schemas.openxmlformats.org/drawingml/2006/table">
            <a:tbl>
              <a:tblPr/>
              <a:tblGrid>
                <a:gridCol w="1925280"/>
                <a:gridCol w="1910520"/>
                <a:gridCol w="49446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Book Antiqua"/>
                        </a:rPr>
                        <a:t>Направление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Book Antiqua"/>
                        </a:rPr>
                        <a:t>Цель применения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Book Antiqua"/>
                        </a:rPr>
                        <a:t>Решение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Удалённая идентификация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Доступ к продуктам без визита в офис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Клиент один раз сдаёт биометрию (лицо и голос) через банк-оператор и может идентифицироваться в любом банке, подключённом к ЕБС.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Биометрическая аутентификация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Упрощение входа и операций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Вход в банковское приложение, подтверждение операций, смена пароля — через сравнение текущих биометрических данных с шаблонами в ЕБС.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Биометрия в киосках и банкоматах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Расширение каналов обслуживания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Самообслуживание клиента в банковских зонах с помощью киосков с камерами и микрофонами.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Повышение </a:t>
                      </a:r>
                      <a:r>
                        <a:rPr b="0" lang="en-US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KYC </a:t>
                      </a: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и антифрода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Борьба с мошенничеством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Проверка, действительно ли клиент — это тот, за кого себя выдаёт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Централизованное хранение шаблонов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Безопасность и соответствие 152-ФЗ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Банки не хранят биометрию локально — шаблоны и доступ находятся в ЕБС.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99" name="Группа 10"/>
          <p:cNvGrpSpPr/>
          <p:nvPr/>
        </p:nvGrpSpPr>
        <p:grpSpPr>
          <a:xfrm>
            <a:off x="0" y="427680"/>
            <a:ext cx="12035880" cy="610920"/>
            <a:chOff x="0" y="427680"/>
            <a:chExt cx="12035880" cy="610920"/>
          </a:xfrm>
        </p:grpSpPr>
        <p:pic>
          <p:nvPicPr>
            <p:cNvPr id="100" name="Рисунок 11" descr=""/>
            <p:cNvPicPr/>
            <p:nvPr/>
          </p:nvPicPr>
          <p:blipFill>
            <a:blip r:embed="rId1"/>
            <a:srcRect l="0" t="23835" r="0" b="55754"/>
            <a:stretch/>
          </p:blipFill>
          <p:spPr>
            <a:xfrm>
              <a:off x="10311840" y="427680"/>
              <a:ext cx="1724040" cy="610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1" name="Пятиугольник 4"/>
            <p:cNvSpPr/>
            <p:nvPr/>
          </p:nvSpPr>
          <p:spPr>
            <a:xfrm>
              <a:off x="0" y="484920"/>
              <a:ext cx="5389200" cy="553680"/>
            </a:xfrm>
            <a:prstGeom prst="homePlate">
              <a:avLst>
                <a:gd name="adj" fmla="val 50000"/>
              </a:avLst>
            </a:prstGeom>
            <a:solidFill>
              <a:srgbClr val="2565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2" name="TextBox 13"/>
            <p:cNvSpPr/>
            <p:nvPr/>
          </p:nvSpPr>
          <p:spPr>
            <a:xfrm>
              <a:off x="141120" y="588960"/>
              <a:ext cx="485208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ru-RU" sz="1800" strike="noStrike" u="none">
                  <a:solidFill>
                    <a:schemeClr val="lt1"/>
                  </a:solidFill>
                  <a:effectLst/>
                  <a:uFillTx/>
                  <a:latin typeface="Book Antiqua"/>
                </a:rPr>
                <a:t>Результаты решения частной задачи № 2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9"/>
          <p:cNvSpPr/>
          <p:nvPr/>
        </p:nvSpPr>
        <p:spPr>
          <a:xfrm>
            <a:off x="1872360" y="1069200"/>
            <a:ext cx="8293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ru-RU" sz="1800" strike="noStrike" u="sng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Book Antiqua"/>
              </a:rPr>
              <a:t>Разработка мультимодальной модель обнаружения незарегистрированных Wi-Fi точек доступа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4" name="Группа 2"/>
          <p:cNvGrpSpPr/>
          <p:nvPr/>
        </p:nvGrpSpPr>
        <p:grpSpPr>
          <a:xfrm>
            <a:off x="0" y="427680"/>
            <a:ext cx="12035880" cy="610920"/>
            <a:chOff x="0" y="427680"/>
            <a:chExt cx="12035880" cy="610920"/>
          </a:xfrm>
        </p:grpSpPr>
        <p:pic>
          <p:nvPicPr>
            <p:cNvPr id="105" name="Рисунок 1" descr=""/>
            <p:cNvPicPr/>
            <p:nvPr/>
          </p:nvPicPr>
          <p:blipFill>
            <a:blip r:embed="rId1"/>
            <a:srcRect l="0" t="23835" r="0" b="55754"/>
            <a:stretch/>
          </p:blipFill>
          <p:spPr>
            <a:xfrm>
              <a:off x="10311840" y="427680"/>
              <a:ext cx="1724040" cy="610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6" name="Пятиугольник 1"/>
            <p:cNvSpPr/>
            <p:nvPr/>
          </p:nvSpPr>
          <p:spPr>
            <a:xfrm>
              <a:off x="0" y="484920"/>
              <a:ext cx="5389200" cy="553680"/>
            </a:xfrm>
            <a:prstGeom prst="homePlate">
              <a:avLst>
                <a:gd name="adj" fmla="val 50000"/>
              </a:avLst>
            </a:prstGeom>
            <a:solidFill>
              <a:srgbClr val="2565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7" name="TextBox 20"/>
            <p:cNvSpPr/>
            <p:nvPr/>
          </p:nvSpPr>
          <p:spPr>
            <a:xfrm>
              <a:off x="141120" y="588960"/>
              <a:ext cx="48056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ru-RU" sz="1800" strike="noStrike" u="none">
                  <a:solidFill>
                    <a:schemeClr val="lt1"/>
                  </a:solidFill>
                  <a:effectLst/>
                  <a:uFillTx/>
                  <a:latin typeface="Book Antiqua"/>
                </a:rPr>
                <a:t>Результаты решения частной задачи № 3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8" name="TextBox 21"/>
          <p:cNvSpPr/>
          <p:nvPr/>
        </p:nvSpPr>
        <p:spPr>
          <a:xfrm>
            <a:off x="7280280" y="1827360"/>
            <a:ext cx="4653000" cy="19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Book Antiqua"/>
              </a:rPr>
              <a:t> Разработана модель обнаружения на основании идентификационных признаков и физических параметров сигнала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Book Antiqua"/>
              </a:rPr>
              <a:t>Разработан ПАК, реализующий разработанную модель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6"/>
          <p:cNvSpPr/>
          <p:nvPr/>
        </p:nvSpPr>
        <p:spPr>
          <a:xfrm>
            <a:off x="82080" y="1190520"/>
            <a:ext cx="5381280" cy="64497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0" name="Группа 8"/>
          <p:cNvGrpSpPr/>
          <p:nvPr/>
        </p:nvGrpSpPr>
        <p:grpSpPr>
          <a:xfrm>
            <a:off x="0" y="427680"/>
            <a:ext cx="12035880" cy="610920"/>
            <a:chOff x="0" y="427680"/>
            <a:chExt cx="12035880" cy="610920"/>
          </a:xfrm>
        </p:grpSpPr>
        <p:pic>
          <p:nvPicPr>
            <p:cNvPr id="111" name="Рисунок 9" descr=""/>
            <p:cNvPicPr/>
            <p:nvPr/>
          </p:nvPicPr>
          <p:blipFill>
            <a:blip r:embed="rId2"/>
            <a:srcRect l="0" t="23835" r="0" b="55754"/>
            <a:stretch/>
          </p:blipFill>
          <p:spPr>
            <a:xfrm>
              <a:off x="10311840" y="427680"/>
              <a:ext cx="1724040" cy="610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2" name="Пятиугольник 4"/>
            <p:cNvSpPr/>
            <p:nvPr/>
          </p:nvSpPr>
          <p:spPr>
            <a:xfrm>
              <a:off x="0" y="484920"/>
              <a:ext cx="5389200" cy="553680"/>
            </a:xfrm>
            <a:prstGeom prst="homePlate">
              <a:avLst>
                <a:gd name="adj" fmla="val 50000"/>
              </a:avLst>
            </a:prstGeom>
            <a:solidFill>
              <a:srgbClr val="2565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3" name="TextBox 11"/>
            <p:cNvSpPr/>
            <p:nvPr/>
          </p:nvSpPr>
          <p:spPr>
            <a:xfrm>
              <a:off x="141120" y="588960"/>
              <a:ext cx="290772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ru-RU" sz="1800" strike="noStrike" u="none">
                  <a:solidFill>
                    <a:schemeClr val="lt1"/>
                  </a:solidFill>
                  <a:effectLst/>
                  <a:uFillTx/>
                  <a:latin typeface="Book Antiqua"/>
                </a:rPr>
                <a:t>Оценка эффективности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114" name="Таблица 12"/>
          <p:cNvGraphicFramePr/>
          <p:nvPr/>
        </p:nvGraphicFramePr>
        <p:xfrm>
          <a:off x="5596560" y="3533760"/>
          <a:ext cx="6513480" cy="1511280"/>
        </p:xfrm>
        <a:graphic>
          <a:graphicData uri="http://schemas.openxmlformats.org/drawingml/2006/table">
            <a:tbl>
              <a:tblPr/>
              <a:tblGrid>
                <a:gridCol w="2159640"/>
                <a:gridCol w="1528560"/>
                <a:gridCol w="1243440"/>
                <a:gridCol w="1581480"/>
              </a:tblGrid>
              <a:tr h="478800">
                <a:tc>
                  <a:txBody>
                    <a:bodyPr lIns="54000" rIns="54000" tIns="0" bIns="0" anchor="ctr">
                      <a:noAutofit/>
                    </a:bodyPr>
                    <a:p>
                      <a:pPr algn="ctr"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1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Book Antiqua"/>
                        </a:rPr>
                        <a:t>Комбинация</a:t>
                      </a:r>
                      <a:endParaRPr b="0" lang="ru-RU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000" marR="54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54000" rIns="54000" tIns="0" bIns="0" anchor="ctr">
                      <a:noAutofit/>
                    </a:bodyPr>
                    <a:p>
                      <a:pPr algn="ctr"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1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Book Antiqua"/>
                        </a:rPr>
                        <a:t>Достоверность</a:t>
                      </a:r>
                      <a:endParaRPr b="0" lang="ru-RU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000" marR="54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54000" rIns="540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1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Book Antiqua"/>
                        </a:rPr>
                        <a:t>Стоимость</a:t>
                      </a:r>
                      <a:endParaRPr b="0" lang="ru-RU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000" marR="54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54000" rIns="54000" tIns="0" bIns="0" anchor="ctr">
                      <a:noAutofit/>
                    </a:bodyPr>
                    <a:p>
                      <a:pPr algn="ctr"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1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Book Antiqua"/>
                        </a:rPr>
                        <a:t>Эффективность W</a:t>
                      </a:r>
                      <a:endParaRPr b="0" lang="ru-RU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000" marR="54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78800">
                <a:tc>
                  <a:txBody>
                    <a:bodyPr lIns="54000" rIns="54000" tIns="0" bIns="0" anchor="ctr">
                      <a:noAutofit/>
                    </a:bodyPr>
                    <a:p>
                      <a:pPr algn="ctr"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1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Book Antiqua"/>
                        </a:rPr>
                        <a:t>Лицо (2D) + Клавиатурный почерк</a:t>
                      </a:r>
                      <a:endParaRPr b="0" lang="ru-RU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000" marR="54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54000" rIns="54000" tIns="0" bIns="0" anchor="ctr">
                      <a:noAutofit/>
                    </a:bodyPr>
                    <a:p>
                      <a:pPr algn="ctr"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94.28%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000" marR="54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54000" rIns="54000" tIns="0" bIns="0" anchor="ctr">
                      <a:noAutofit/>
                    </a:bodyPr>
                    <a:p>
                      <a:pPr algn="ctr"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0.15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000" marR="54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54000" rIns="54000" tIns="0" bIns="0" anchor="ctr">
                      <a:noAutofit/>
                    </a:bodyPr>
                    <a:p>
                      <a:pPr algn="ctr"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6.285 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000" marR="54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242640">
                <a:tc>
                  <a:txBody>
                    <a:bodyPr lIns="54000" rIns="54000" tIns="0" bIns="0" anchor="ctr">
                      <a:noAutofit/>
                    </a:bodyPr>
                    <a:p>
                      <a:pPr algn="ctr"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1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Book Antiqua"/>
                        </a:rPr>
                        <a:t>Отпечатки + Почерк</a:t>
                      </a:r>
                      <a:endParaRPr b="0" lang="ru-RU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000" marR="54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54000" rIns="54000" tIns="0" bIns="0" anchor="ctr">
                      <a:noAutofit/>
                    </a:bodyPr>
                    <a:p>
                      <a:pPr algn="ctr"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98.88%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000" marR="54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4000" rIns="54000" tIns="0" bIns="0" anchor="ctr">
                      <a:noAutofit/>
                    </a:bodyPr>
                    <a:p>
                      <a:pPr algn="ctr"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0.25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000" marR="54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4000" rIns="54000" tIns="0" bIns="0" anchor="ctr">
                      <a:noAutofit/>
                    </a:bodyPr>
                    <a:p>
                      <a:pPr algn="ctr"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3.95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000" marR="54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242640">
                <a:tc>
                  <a:txBody>
                    <a:bodyPr lIns="54000" rIns="54000" tIns="0" bIns="0" anchor="ctr">
                      <a:noAutofit/>
                    </a:bodyPr>
                    <a:p>
                      <a:pPr algn="ctr"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1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Book Antiqua"/>
                        </a:rPr>
                        <a:t>Отпечатки + Лицо (2D)</a:t>
                      </a:r>
                      <a:endParaRPr b="0" lang="ru-RU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000" marR="54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54000" rIns="54000" tIns="0" bIns="0" anchor="ctr">
                      <a:noAutofit/>
                    </a:bodyPr>
                    <a:p>
                      <a:pPr algn="ctr"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94.58%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000" marR="54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54000" rIns="54000" tIns="0" bIns="0" anchor="ctr">
                      <a:noAutofit/>
                    </a:bodyPr>
                    <a:p>
                      <a:pPr algn="ctr"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0.30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000" marR="54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54000" rIns="54000" tIns="0" bIns="0" anchor="ctr">
                      <a:noAutofit/>
                    </a:bodyPr>
                    <a:p>
                      <a:pPr algn="ctr" defTabSz="91440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Book Antiqua"/>
                        </a:rPr>
                        <a:t>3.15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000" marR="54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5" name="Rectangle 2"/>
          <p:cNvSpPr/>
          <p:nvPr/>
        </p:nvSpPr>
        <p:spPr>
          <a:xfrm>
            <a:off x="5708880" y="2312280"/>
            <a:ext cx="6396120" cy="10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marL="285840" indent="-285840" algn="just" defTabSz="914400">
              <a:lnSpc>
                <a:spcPct val="100000"/>
              </a:lnSpc>
              <a:buClr>
                <a:srgbClr val="404040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Book Antiqua"/>
                <a:ea typeface="Times New Roman"/>
              </a:rPr>
              <a:t>Выделены самые эффективные системы комбинации биометрических систем аутентификации и представлены в таблице 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Book Antiqua"/>
                <a:ea typeface="Times New Roman"/>
              </a:rPr>
              <a:t>Таблица 9 – Самые эффективные системы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5"/>
          <p:cNvSpPr/>
          <p:nvPr/>
        </p:nvSpPr>
        <p:spPr>
          <a:xfrm>
            <a:off x="1665720" y="541800"/>
            <a:ext cx="48520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Book Antiqua"/>
              </a:rPr>
              <a:t>Результаты решения частной задачи № 3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3"/>
          <p:cNvSpPr/>
          <p:nvPr/>
        </p:nvSpPr>
        <p:spPr>
          <a:xfrm>
            <a:off x="1085760" y="1292400"/>
            <a:ext cx="10311120" cy="23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00000"/>
              </a:lnSpc>
              <a:buClr>
                <a:srgbClr val="404040"/>
              </a:buClr>
              <a:buFont typeface="Arial"/>
              <a:buChar char="•"/>
            </a:pPr>
            <a:r>
              <a:rPr b="1" lang="ru-RU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Book Antiqua"/>
                <a:ea typeface="Calibri"/>
              </a:rPr>
              <a:t>Рекомендации по результатам проведённого исследования: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ru-RU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Book Antiqua"/>
                <a:ea typeface="Calibri"/>
              </a:rPr>
              <a:t> 1) Для реализации биометрических решений в условиях ограниченного бюджета и массового применения, целесообразно использовать комбинацию распознавания лица (в формате 2D) и анализа клавиатурного почерка.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ru-RU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Book Antiqua"/>
                <a:ea typeface="Calibri"/>
              </a:rPr>
              <a:t>2) Для высокозащищённых корпоративных систем и объектов государственного значения рекомендуется использовать биометрические методы с наивысшей степенью точности – распознавание по рисунку вен и сканированию сетчатки глаза.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8" name="Группа 10"/>
          <p:cNvGrpSpPr/>
          <p:nvPr/>
        </p:nvGrpSpPr>
        <p:grpSpPr>
          <a:xfrm>
            <a:off x="0" y="427680"/>
            <a:ext cx="12035880" cy="610920"/>
            <a:chOff x="0" y="427680"/>
            <a:chExt cx="12035880" cy="610920"/>
          </a:xfrm>
        </p:grpSpPr>
        <p:pic>
          <p:nvPicPr>
            <p:cNvPr id="119" name="Рисунок 11" descr=""/>
            <p:cNvPicPr/>
            <p:nvPr/>
          </p:nvPicPr>
          <p:blipFill>
            <a:blip r:embed="rId1"/>
            <a:srcRect l="0" t="23835" r="0" b="55754"/>
            <a:stretch/>
          </p:blipFill>
          <p:spPr>
            <a:xfrm>
              <a:off x="10311840" y="427680"/>
              <a:ext cx="1724040" cy="610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0" name="Пятиугольник 4"/>
            <p:cNvSpPr/>
            <p:nvPr/>
          </p:nvSpPr>
          <p:spPr>
            <a:xfrm>
              <a:off x="0" y="484920"/>
              <a:ext cx="6727320" cy="553680"/>
            </a:xfrm>
            <a:prstGeom prst="homePlate">
              <a:avLst>
                <a:gd name="adj" fmla="val 50000"/>
              </a:avLst>
            </a:prstGeom>
            <a:solidFill>
              <a:srgbClr val="2565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1" name="TextBox 15"/>
            <p:cNvSpPr/>
            <p:nvPr/>
          </p:nvSpPr>
          <p:spPr>
            <a:xfrm>
              <a:off x="141120" y="588960"/>
              <a:ext cx="606420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ru-RU" sz="1800" strike="noStrike" u="none">
                  <a:solidFill>
                    <a:schemeClr val="lt1"/>
                  </a:solidFill>
                  <a:effectLst/>
                  <a:uFillTx/>
                  <a:latin typeface="Book Antiqua"/>
                </a:rPr>
                <a:t>Практическая значимость полученных результатов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2" name="TextBox 16"/>
          <p:cNvSpPr/>
          <p:nvPr/>
        </p:nvSpPr>
        <p:spPr>
          <a:xfrm>
            <a:off x="1050120" y="3960720"/>
            <a:ext cx="1031112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00000"/>
              </a:lnSpc>
              <a:buClr>
                <a:srgbClr val="404040"/>
              </a:buClr>
              <a:buFont typeface="Arial"/>
              <a:buChar char="•"/>
            </a:pPr>
            <a:r>
              <a:rPr b="1" lang="ru-RU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Book Antiqua"/>
                <a:ea typeface="Calibri"/>
              </a:rPr>
              <a:t>С учетом рекомендаций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404040"/>
              </a:buClr>
              <a:buFont typeface="Arial"/>
              <a:buChar char="•"/>
            </a:pPr>
            <a:r>
              <a:rPr b="1" lang="ru-RU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Book Antiqua"/>
                <a:ea typeface="Calibri"/>
              </a:rPr>
              <a:t>- Разработано…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404040"/>
              </a:buClr>
              <a:buFont typeface="Arial"/>
              <a:buChar char="•"/>
            </a:pPr>
            <a:r>
              <a:rPr b="1" lang="ru-RU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Book Antiqua"/>
                <a:ea typeface="Calibri"/>
              </a:rPr>
              <a:t>- Создано… , которое позволяет повысить/снизить …. 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7"/>
          <p:cNvSpPr/>
          <p:nvPr/>
        </p:nvSpPr>
        <p:spPr>
          <a:xfrm>
            <a:off x="1152000" y="5011920"/>
            <a:ext cx="103111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ctr" defTabSz="91440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b="1" lang="ru-RU" sz="1600" strike="noStrike" u="none">
                <a:solidFill>
                  <a:srgbClr val="ff0000"/>
                </a:solidFill>
                <a:effectLst/>
                <a:uFillTx/>
                <a:latin typeface="Book Antiqua"/>
                <a:ea typeface="Calibri"/>
              </a:rPr>
              <a:t>ГРАФИК С ПРИРОСТОМ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5"/>
          <p:cNvSpPr/>
          <p:nvPr/>
        </p:nvSpPr>
        <p:spPr>
          <a:xfrm>
            <a:off x="1665720" y="541800"/>
            <a:ext cx="1120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Book Antiqua"/>
              </a:rPr>
              <a:t>Выводы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6"/>
          <p:cNvSpPr/>
          <p:nvPr/>
        </p:nvSpPr>
        <p:spPr>
          <a:xfrm>
            <a:off x="544320" y="1902600"/>
            <a:ext cx="2657520" cy="34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457200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Book Antiqua"/>
              </a:rPr>
              <a:t> ЗАДАЧА 1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Book Antiqua"/>
              </a:rPr>
              <a:t> ЗАДАЧА 2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Book Antiqua"/>
              </a:rPr>
              <a:t> ЗАДАЧА 3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1487520" y="1143360"/>
            <a:ext cx="92984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800" strike="noStrike" u="none">
                <a:solidFill>
                  <a:srgbClr val="2c2d2e"/>
                </a:solidFill>
                <a:effectLst/>
                <a:uFillTx/>
                <a:latin typeface="Calibri"/>
              </a:rPr>
              <a:t>Результаты  выполнения по каждой поставленной задаче и вывод о достижении цели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7" name="Группа 8"/>
          <p:cNvGrpSpPr/>
          <p:nvPr/>
        </p:nvGrpSpPr>
        <p:grpSpPr>
          <a:xfrm>
            <a:off x="0" y="427680"/>
            <a:ext cx="12035880" cy="610920"/>
            <a:chOff x="0" y="427680"/>
            <a:chExt cx="12035880" cy="610920"/>
          </a:xfrm>
        </p:grpSpPr>
        <p:pic>
          <p:nvPicPr>
            <p:cNvPr id="128" name="Рисунок 9" descr=""/>
            <p:cNvPicPr/>
            <p:nvPr/>
          </p:nvPicPr>
          <p:blipFill>
            <a:blip r:embed="rId1"/>
            <a:srcRect l="0" t="23835" r="0" b="55754"/>
            <a:stretch/>
          </p:blipFill>
          <p:spPr>
            <a:xfrm>
              <a:off x="10311840" y="427680"/>
              <a:ext cx="1724040" cy="610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9" name="Пятиугольник 4"/>
            <p:cNvSpPr/>
            <p:nvPr/>
          </p:nvSpPr>
          <p:spPr>
            <a:xfrm>
              <a:off x="0" y="484920"/>
              <a:ext cx="6727320" cy="553680"/>
            </a:xfrm>
            <a:prstGeom prst="homePlate">
              <a:avLst>
                <a:gd name="adj" fmla="val 50000"/>
              </a:avLst>
            </a:prstGeom>
            <a:solidFill>
              <a:srgbClr val="2565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0" name="TextBox 11"/>
            <p:cNvSpPr/>
            <p:nvPr/>
          </p:nvSpPr>
          <p:spPr>
            <a:xfrm>
              <a:off x="141120" y="588960"/>
              <a:ext cx="319464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ru-RU" sz="1800" strike="noStrike" u="none">
                  <a:solidFill>
                    <a:schemeClr val="lt1"/>
                  </a:solidFill>
                  <a:effectLst/>
                  <a:uFillTx/>
                  <a:latin typeface="Book Antiqua"/>
                </a:rPr>
                <a:t>Вывод о достижении цели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1" name="Стрелка: вправо 12"/>
          <p:cNvSpPr/>
          <p:nvPr/>
        </p:nvSpPr>
        <p:spPr>
          <a:xfrm>
            <a:off x="3684960" y="2085480"/>
            <a:ext cx="2953080" cy="29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Стрелка: вправо 13"/>
          <p:cNvSpPr/>
          <p:nvPr/>
        </p:nvSpPr>
        <p:spPr>
          <a:xfrm>
            <a:off x="3684960" y="3106800"/>
            <a:ext cx="2953080" cy="29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Стрелка: вправо 14"/>
          <p:cNvSpPr/>
          <p:nvPr/>
        </p:nvSpPr>
        <p:spPr>
          <a:xfrm>
            <a:off x="3684960" y="4127760"/>
            <a:ext cx="2953080" cy="29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5"/>
          <p:cNvSpPr/>
          <p:nvPr/>
        </p:nvSpPr>
        <p:spPr>
          <a:xfrm>
            <a:off x="7424640" y="1938240"/>
            <a:ext cx="2657520" cy="34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457200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Book Antiqua"/>
              </a:rPr>
              <a:t> Результат 1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Book Antiqua"/>
              </a:rPr>
              <a:t> Результат 2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Book Antiqua"/>
              </a:rPr>
              <a:t>Результат 3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Стрелка: вправо 17"/>
          <p:cNvSpPr/>
          <p:nvPr/>
        </p:nvSpPr>
        <p:spPr>
          <a:xfrm rot="5400000">
            <a:off x="7981200" y="5308560"/>
            <a:ext cx="1248840" cy="29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18"/>
          <p:cNvSpPr/>
          <p:nvPr/>
        </p:nvSpPr>
        <p:spPr>
          <a:xfrm>
            <a:off x="7389000" y="6182640"/>
            <a:ext cx="38980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800" strike="noStrike" u="none">
                <a:solidFill>
                  <a:srgbClr val="2c2d2e"/>
                </a:solidFill>
                <a:effectLst/>
                <a:uFillTx/>
                <a:latin typeface="Calibri"/>
              </a:rPr>
              <a:t>Вывод – цель достигнута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5"/>
          <p:cNvSpPr/>
          <p:nvPr/>
        </p:nvSpPr>
        <p:spPr>
          <a:xfrm>
            <a:off x="1665720" y="541800"/>
            <a:ext cx="1120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Book Antiqua"/>
              </a:rPr>
              <a:t>Выводы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1665720" y="2997000"/>
            <a:ext cx="46476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3200" strike="noStrike" u="none">
                <a:solidFill>
                  <a:schemeClr val="lt1"/>
                </a:solidFill>
                <a:effectLst/>
                <a:uFillTx/>
                <a:latin typeface="Book Antiqua"/>
              </a:rPr>
              <a:t>Спасибо за внимание!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9" name="Группа 6"/>
          <p:cNvGrpSpPr/>
          <p:nvPr/>
        </p:nvGrpSpPr>
        <p:grpSpPr>
          <a:xfrm>
            <a:off x="0" y="427680"/>
            <a:ext cx="12035880" cy="610920"/>
            <a:chOff x="0" y="427680"/>
            <a:chExt cx="12035880" cy="610920"/>
          </a:xfrm>
        </p:grpSpPr>
        <p:pic>
          <p:nvPicPr>
            <p:cNvPr id="140" name="Рисунок 7" descr=""/>
            <p:cNvPicPr/>
            <p:nvPr/>
          </p:nvPicPr>
          <p:blipFill>
            <a:blip r:embed="rId1"/>
            <a:srcRect l="0" t="23835" r="0" b="55754"/>
            <a:stretch/>
          </p:blipFill>
          <p:spPr>
            <a:xfrm>
              <a:off x="10311840" y="427680"/>
              <a:ext cx="1724040" cy="610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1" name="Пятиугольник 4"/>
            <p:cNvSpPr/>
            <p:nvPr/>
          </p:nvSpPr>
          <p:spPr>
            <a:xfrm>
              <a:off x="0" y="484920"/>
              <a:ext cx="6727320" cy="553680"/>
            </a:xfrm>
            <a:prstGeom prst="homePlate">
              <a:avLst>
                <a:gd name="adj" fmla="val 50000"/>
              </a:avLst>
            </a:prstGeom>
            <a:solidFill>
              <a:srgbClr val="2565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2" name="TextBox 9"/>
            <p:cNvSpPr/>
            <p:nvPr/>
          </p:nvSpPr>
          <p:spPr>
            <a:xfrm>
              <a:off x="141120" y="588960"/>
              <a:ext cx="579492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ru-RU" sz="1800" strike="noStrike" u="none">
                  <a:solidFill>
                    <a:schemeClr val="lt1"/>
                  </a:solidFill>
                  <a:effectLst/>
                  <a:uFillTx/>
                  <a:latin typeface="Book Antiqua"/>
                </a:rPr>
                <a:t>Акт о внедрении или применимости результатов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3" name="TextBox 10"/>
          <p:cNvSpPr/>
          <p:nvPr/>
        </p:nvSpPr>
        <p:spPr>
          <a:xfrm>
            <a:off x="184320" y="1245600"/>
            <a:ext cx="10311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00000"/>
              </a:lnSpc>
              <a:buClr>
                <a:srgbClr val="404040"/>
              </a:buClr>
              <a:buFont typeface="Arial"/>
              <a:buChar char="•"/>
            </a:pPr>
            <a:r>
              <a:rPr b="1" lang="ru-RU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Book Antiqua"/>
                <a:ea typeface="Calibri"/>
              </a:rPr>
              <a:t>Акт о внедрении: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ru-RU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Book Antiqua"/>
                <a:ea typeface="Calibri"/>
              </a:rPr>
              <a:t> 1) Документ № ___ в ООООО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1"/>
          <p:cNvSpPr/>
          <p:nvPr/>
        </p:nvSpPr>
        <p:spPr>
          <a:xfrm>
            <a:off x="184320" y="1957680"/>
            <a:ext cx="1146528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00000"/>
              </a:lnSpc>
              <a:buClr>
                <a:srgbClr val="404040"/>
              </a:buClr>
              <a:buFont typeface="Arial"/>
              <a:buChar char="•"/>
            </a:pPr>
            <a:r>
              <a:rPr b="1" lang="ru-RU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Book Antiqua"/>
                <a:ea typeface="Calibri"/>
              </a:rPr>
              <a:t>Сведения о научных публикациях: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ru-RU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Book Antiqua"/>
                <a:ea typeface="Calibri"/>
              </a:rPr>
              <a:t> 1) Перечень </a:t>
            </a: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Book Antiqua"/>
                <a:ea typeface="Calibri"/>
              </a:rPr>
              <a:t>K2. </a:t>
            </a:r>
            <a:r>
              <a:rPr b="0" lang="ru-RU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Book Antiqua"/>
                <a:ea typeface="Calibri"/>
              </a:rPr>
              <a:t>Носков, Д. П. Модель распознавания манипуляционного воздействия в речевых акустических сигналах телефонной коммуникации в задаче защиты от атак социальной инженерии / Д. П. Носков, Е. В. Егоров, С. И. Бабкова // Электронный сетевой политематический журнал "Научные труды КубГТУ". – 2025. – № 6. – С. 185-204. – DOI 10.26297/2312-9409.2025.6.15. – EDN PHMKRO.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2"/>
          <p:cNvSpPr/>
          <p:nvPr/>
        </p:nvSpPr>
        <p:spPr>
          <a:xfrm>
            <a:off x="184320" y="5164200"/>
            <a:ext cx="948492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00000"/>
              </a:lnSpc>
              <a:buClr>
                <a:srgbClr val="404040"/>
              </a:buClr>
              <a:buFont typeface="Arial"/>
              <a:buChar char="•"/>
            </a:pPr>
            <a:r>
              <a:rPr b="1" lang="ru-RU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Book Antiqua"/>
                <a:ea typeface="Calibri"/>
              </a:rPr>
              <a:t>Свидетельство о государственной регистрации программы для ЭВМ :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ru-RU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Book Antiqua"/>
                <a:ea typeface="Calibri"/>
              </a:rPr>
              <a:t> 1) Свидетельство о государственной регистрации программы для ЭВМ № 2026611807 Российская Федерация. Программа выявления угроз нарушения информационной безопасности в области социальной инженерии – «Обнаружение манипуляции в речи собеседника – «Vishing manipulation 2025» : заявл. 10.01.2026 : опубл. 22.01.2026 / Д. П. Носков, С. И. Бабкова. – EDN NZQUEF.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3"/>
          <p:cNvSpPr/>
          <p:nvPr/>
        </p:nvSpPr>
        <p:spPr>
          <a:xfrm>
            <a:off x="184320" y="3356280"/>
            <a:ext cx="9597600" cy="18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00000"/>
              </a:lnSpc>
              <a:buClr>
                <a:srgbClr val="404040"/>
              </a:buClr>
              <a:buFont typeface="Arial"/>
              <a:buChar char="•"/>
            </a:pPr>
            <a:r>
              <a:rPr b="1" lang="ru-RU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Book Antiqua"/>
                <a:ea typeface="Calibri"/>
              </a:rPr>
              <a:t>Участие в конференциях: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ru-RU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Book Antiqua"/>
                <a:ea typeface="Calibri"/>
              </a:rPr>
              <a:t> 1) Арустамян, С. С. Методы статического и динамического анализа в анализаторе безопасности кода АК-ВС 3 / С. С. Арустамян, И. С. Антипов, Н. А. Магакелова // Безопасные информационные технологии : Сборник трудов Четырнадцатой всероссийской научно-технической конференции, МГТУ им. Н.Э.Баумана, 29–31 октября 2025 года. – Москва: Московский государственный технический университет им. Н.Э. Баумана, 2025. – С. 5-8. – EDN NTSLDF.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Рисунок 15" descr=""/>
          <p:cNvPicPr/>
          <p:nvPr/>
        </p:nvPicPr>
        <p:blipFill>
          <a:blip r:embed="rId2"/>
          <a:stretch/>
        </p:blipFill>
        <p:spPr>
          <a:xfrm>
            <a:off x="9923400" y="3556440"/>
            <a:ext cx="2033640" cy="287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5"/>
          <p:cNvSpPr/>
          <p:nvPr/>
        </p:nvSpPr>
        <p:spPr>
          <a:xfrm>
            <a:off x="1665720" y="541800"/>
            <a:ext cx="1120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Book Antiqua"/>
              </a:rPr>
              <a:t>Выводы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"/>
          <p:cNvSpPr/>
          <p:nvPr/>
        </p:nvSpPr>
        <p:spPr>
          <a:xfrm>
            <a:off x="1665720" y="2997000"/>
            <a:ext cx="46476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3200" strike="noStrike" u="none">
                <a:solidFill>
                  <a:schemeClr val="lt1"/>
                </a:solidFill>
                <a:effectLst/>
                <a:uFillTx/>
                <a:latin typeface="Book Antiqua"/>
              </a:rPr>
              <a:t>Спасибо за внимание!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0" name="Группа 6"/>
          <p:cNvGrpSpPr/>
          <p:nvPr/>
        </p:nvGrpSpPr>
        <p:grpSpPr>
          <a:xfrm>
            <a:off x="0" y="427680"/>
            <a:ext cx="12035880" cy="610920"/>
            <a:chOff x="0" y="427680"/>
            <a:chExt cx="12035880" cy="610920"/>
          </a:xfrm>
        </p:grpSpPr>
        <p:pic>
          <p:nvPicPr>
            <p:cNvPr id="151" name="Рисунок 7" descr=""/>
            <p:cNvPicPr/>
            <p:nvPr/>
          </p:nvPicPr>
          <p:blipFill>
            <a:blip r:embed="rId1"/>
            <a:srcRect l="0" t="23835" r="0" b="55754"/>
            <a:stretch/>
          </p:blipFill>
          <p:spPr>
            <a:xfrm>
              <a:off x="10311840" y="427680"/>
              <a:ext cx="1724040" cy="610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2" name="Пятиугольник 4"/>
            <p:cNvSpPr/>
            <p:nvPr/>
          </p:nvSpPr>
          <p:spPr>
            <a:xfrm>
              <a:off x="0" y="484920"/>
              <a:ext cx="6727320" cy="553680"/>
            </a:xfrm>
            <a:prstGeom prst="homePlate">
              <a:avLst>
                <a:gd name="adj" fmla="val 50000"/>
              </a:avLst>
            </a:prstGeom>
            <a:solidFill>
              <a:srgbClr val="2565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3" name="TextBox 9"/>
            <p:cNvSpPr/>
            <p:nvPr/>
          </p:nvSpPr>
          <p:spPr>
            <a:xfrm>
              <a:off x="141120" y="588960"/>
              <a:ext cx="620028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ru-RU" sz="1800" strike="noStrike" u="none">
                  <a:solidFill>
                    <a:schemeClr val="lt1"/>
                  </a:solidFill>
                  <a:effectLst/>
                  <a:uFillTx/>
                  <a:latin typeface="Book Antiqua"/>
                </a:rPr>
                <a:t> Результаты выполнения задач по учебной практике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5"/>
          <p:cNvSpPr/>
          <p:nvPr/>
        </p:nvSpPr>
        <p:spPr>
          <a:xfrm>
            <a:off x="1665720" y="541800"/>
            <a:ext cx="1120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Book Antiqua"/>
              </a:rPr>
              <a:t>Выводы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"/>
          <p:cNvSpPr/>
          <p:nvPr/>
        </p:nvSpPr>
        <p:spPr>
          <a:xfrm>
            <a:off x="1665720" y="2997000"/>
            <a:ext cx="46476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3200" strike="noStrike" u="none">
                <a:solidFill>
                  <a:schemeClr val="lt1"/>
                </a:solidFill>
                <a:effectLst/>
                <a:uFillTx/>
                <a:latin typeface="Book Antiqua"/>
              </a:rPr>
              <a:t>Спасибо за внимание!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6" name="Группа 6"/>
          <p:cNvGrpSpPr/>
          <p:nvPr/>
        </p:nvGrpSpPr>
        <p:grpSpPr>
          <a:xfrm>
            <a:off x="0" y="427680"/>
            <a:ext cx="12035880" cy="610920"/>
            <a:chOff x="0" y="427680"/>
            <a:chExt cx="12035880" cy="610920"/>
          </a:xfrm>
        </p:grpSpPr>
        <p:pic>
          <p:nvPicPr>
            <p:cNvPr id="157" name="Рисунок 7" descr=""/>
            <p:cNvPicPr/>
            <p:nvPr/>
          </p:nvPicPr>
          <p:blipFill>
            <a:blip r:embed="rId1"/>
            <a:srcRect l="0" t="23835" r="0" b="55754"/>
            <a:stretch/>
          </p:blipFill>
          <p:spPr>
            <a:xfrm>
              <a:off x="10311840" y="427680"/>
              <a:ext cx="1724040" cy="610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8" name="Пятиугольник 4"/>
            <p:cNvSpPr/>
            <p:nvPr/>
          </p:nvSpPr>
          <p:spPr>
            <a:xfrm>
              <a:off x="0" y="484920"/>
              <a:ext cx="7789680" cy="553680"/>
            </a:xfrm>
            <a:prstGeom prst="homePlate">
              <a:avLst>
                <a:gd name="adj" fmla="val 50000"/>
              </a:avLst>
            </a:prstGeom>
            <a:solidFill>
              <a:srgbClr val="2565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9" name="TextBox 9"/>
            <p:cNvSpPr/>
            <p:nvPr/>
          </p:nvSpPr>
          <p:spPr>
            <a:xfrm>
              <a:off x="141120" y="588960"/>
              <a:ext cx="736740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ru-RU" sz="1800" strike="noStrike" u="none">
                  <a:solidFill>
                    <a:schemeClr val="lt1"/>
                  </a:solidFill>
                  <a:effectLst/>
                  <a:uFillTx/>
                  <a:latin typeface="Book Antiqua"/>
                </a:rPr>
                <a:t> Результаты выполнения задач по производственной практике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152A4D475B3F94B9A44EC35E28A4960" ma:contentTypeVersion="1" ma:contentTypeDescription="Создание документа." ma:contentTypeScope="" ma:versionID="46f56e486521e51090bd96ea8df1194b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2a10c82831e5d625bbb0173136b0368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Дата начала расписания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Дата окончания расписания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FE14FB3A-98B0-4541-A9B6-6A9A9A4E971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1F834A-76E6-4828-A761-3403309F8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7F78A8B-7EE1-459B-81DE-8E382C3F86C9}">
  <ds:schemaRefs>
    <ds:schemaRef ds:uri="http://purl.org/dc/dcmitype/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documentManagement/types"/>
    <ds:schemaRef ds:uri="http://schemas.microsoft.com/sharepoint/v3"/>
    <ds:schemaRef ds:uri="http://purl.org/dc/elements/1.1/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6506</TotalTime>
  <Application>LibreOffice/25.2.7.2$Windows_X86_64 LibreOffice_project/5cbfd1ab6520636bb5f7b99185aa69bd7456825d</Application>
  <AppVersion>15.0000</AppVersion>
  <Words>1323</Words>
  <Paragraphs>190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2016-09-22T16:49:19Z</dcterms:created>
  <dc:creator>Windows User</dc:creator>
  <dc:description/>
  <dc:language>ru-RU</dc:language>
  <cp:lastModifiedBy/>
  <dcterms:modified xsi:type="dcterms:W3CDTF">2026-05-11T21:25:11Z</dcterms:modified>
  <cp:revision>36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0x010100D152A4D475B3F94B9A44EC35E28A4960</vt:lpwstr>
  </property>
  <property fmtid="{D5CDD505-2E9C-101B-9397-08002B2CF9AE}" pid="3" name="Notes">
    <vt:i4>7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12</vt:i4>
  </property>
</Properties>
</file>