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charts/chart1.xml" ContentType="application/vnd.openxmlformats-officedocument.drawingml.chart+xml"/>
  <Override PartName="/ppt/slideMasters/slideMaster1.xml" ContentType="application/vnd.openxmlformats-officedocument.presentationml.slideMaster+xml"/>
  <Override PartName="/ppt/slideMasters/_rels/slideMaster1.xml.rels" ContentType="application/vnd.openxmlformats-package.relationships+xml"/>
  <Override PartName="/ppt/notesMasters/notesMaster1.xml" ContentType="application/vnd.openxmlformats-officedocument.presentationml.notesMaster+xml"/>
  <Override PartName="/ppt/notesMasters/_rels/notesMaster1.xml.rels" ContentType="application/vnd.openxmlformats-package.relationships+xml"/>
  <Override PartName="/ppt/theme/theme1.xml" ContentType="application/vnd.openxmlformats-officedocument.theme+xml"/>
  <Override PartName="/ppt/theme/theme3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media/image1.png" ContentType="image/png"/>
  <Override PartName="/ppt/media/image8.wmf" ContentType="image/x-wmf"/>
  <Override PartName="/ppt/media/image2.png" ContentType="image/png"/>
  <Override PartName="/ppt/media/image3.png" ContentType="image/png"/>
  <Override PartName="/ppt/media/image4.png" ContentType="image/png"/>
  <Override PartName="/ppt/media/image5.wmf" ContentType="image/x-wmf"/>
  <Override PartName="/ppt/media/image6.wmf" ContentType="image/x-wmf"/>
  <Override PartName="/ppt/media/image7.png" ContentType="image/png"/>
  <Override PartName="/ppt/media/image9.wmf" ContentType="image/x-wmf"/>
  <Override PartName="/ppt/media/image10.wmf" ContentType="image/x-wmf"/>
  <Override PartName="/ppt/notesSlides/notesSlide4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_rels/notesSlide12.xml.rels" ContentType="application/vnd.openxmlformats-package.relationships+xml"/>
  <Override PartName="/ppt/notesSlides/_rels/notesSlide8.xml.rels" ContentType="application/vnd.openxmlformats-package.relationships+xml"/>
  <Override PartName="/ppt/notesSlides/_rels/notesSlide4.xml.rels" ContentType="application/vnd.openxmlformats-package.relationships+xml"/>
  <Override PartName="/ppt/notesSlides/_rels/notesSlide9.xml.rels" ContentType="application/vnd.openxmlformats-package.relationships+xml"/>
  <Override PartName="/ppt/notesSlides/_rels/notesSlide13.xml.rels" ContentType="application/vnd.openxmlformats-package.relationships+xml"/>
  <Override PartName="/ppt/notesSlides/_rels/notesSlide10.xml.rels" ContentType="application/vnd.openxmlformats-package.relationships+xml"/>
  <Override PartName="/ppt/notesSlides/_rels/notesSlide11.xml.rels" ContentType="application/vnd.openxmlformats-package.relationships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3.xml" ContentType="application/vnd.openxmlformats-officedocument.presentationml.notesSlide+xml"/>
  <Override PartName="/ppt/presProps.xml" ContentType="application/vnd.openxmlformats-officedocument.presentationml.presProps+xml"/>
  <Override PartName="/ppt/_rels/presentation.xml.rels" ContentType="application/vnd.openxmlformats-package.relationshi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presProps" Target="presProps.xml"/>
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chart>
    <c:autoTitleDeleted val="1"/>
    <c:plotArea>
      <c:layout>
        <c:manualLayout>
          <c:layoutTarget val="inner"/>
          <c:xMode val="edge"/>
          <c:yMode val="edge"/>
          <c:x val="0.0687505487751339"/>
          <c:y val="0.0909801469438799"/>
          <c:w val="0.770699798050751"/>
          <c:h val="0.858371111458496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Частота атак</c:v>
                </c:pt>
              </c:strCache>
            </c:strRef>
          </c:tx>
          <c:spPr>
            <a:solidFill>
              <a:srgbClr val="004586"/>
            </a:solidFill>
            <a:ln w="0">
              <a:noFill/>
            </a:ln>
          </c:spPr>
          <c:invertIfNegative val="0"/>
          <c:dLbls>
            <c:txPr>
              <a:bodyPr wrap="none"/>
              <a:lstStyle/>
              <a:p>
                <a:pPr>
                  <a:defRPr b="0" sz="1000" strike="noStrike" u="none">
                    <a:solidFill>
                      <a:srgbClr val="000000"/>
                    </a:solidFill>
                    <a:uFillTx/>
                    <a:latin typeface="Arial"/>
                    <a:ea typeface="DejaVu Sans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eparator> </c:separator>
            <c:showLeaderLines val="1"/>
            <c:leaderLines>
              <c:spPr>
                <a:ln w="0">
                  <a:solidFill>
                    <a:srgbClr val="000000"/>
                  </a:solidFill>
                </a:ln>
              </c:spPr>
            </c:leaderLines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3"/>
                <c:pt idx="0">
                  <c:v>2026</c:v>
                </c:pt>
                <c:pt idx="1">
                  <c:v>2025</c:v>
                </c:pt>
                <c:pt idx="2">
                  <c:v>2024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3"/>
                <c:pt idx="0">
                  <c:v>171</c:v>
                </c:pt>
                <c:pt idx="1">
                  <c:v>124</c:v>
                </c:pt>
                <c:pt idx="2">
                  <c:v>100</c:v>
                </c:pt>
              </c:numCache>
            </c:numRef>
          </c:val>
        </c:ser>
        <c:gapWidth val="100"/>
        <c:overlap val="0"/>
        <c:axId val="29726905"/>
        <c:axId val="65546883"/>
      </c:barChart>
      <c:catAx>
        <c:axId val="29726905"/>
        <c:scaling>
          <c:orientation val="minMax"/>
        </c:scaling>
        <c:delete val="0"/>
        <c:axPos val="b"/>
        <c:numFmt formatCode="[$-419]dd/mm/yyyy" sourceLinked="0"/>
        <c:majorTickMark val="out"/>
        <c:minorTickMark val="none"/>
        <c:tickLblPos val="nextTo"/>
        <c:spPr>
          <a:ln w="0">
            <a:solidFill>
              <a:srgbClr val="b3b3b3"/>
            </a:solidFill>
          </a:ln>
        </c:spPr>
        <c:txPr>
          <a:bodyPr/>
          <a:lstStyle/>
          <a:p>
            <a:pPr>
              <a:defRPr b="0" sz="1000" strike="noStrike" u="none">
                <a:solidFill>
                  <a:srgbClr val="000000"/>
                </a:solidFill>
                <a:uFillTx/>
                <a:latin typeface="Arial"/>
                <a:ea typeface="DejaVu Sans"/>
              </a:defRPr>
            </a:pPr>
          </a:p>
        </c:txPr>
        <c:crossAx val="65546883"/>
        <c:crosses val="autoZero"/>
        <c:auto val="1"/>
        <c:lblAlgn val="ctr"/>
        <c:lblOffset val="100"/>
        <c:noMultiLvlLbl val="0"/>
      </c:catAx>
      <c:valAx>
        <c:axId val="65546883"/>
        <c:scaling>
          <c:orientation val="minMax"/>
        </c:scaling>
        <c:delete val="1"/>
        <c:axPos val="l"/>
        <c:majorGridlines>
          <c:spPr>
            <a:ln w="0">
              <a:solidFill>
                <a:srgbClr val="b3b3b3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spPr>
          <a:ln w="0">
            <a:solidFill>
              <a:srgbClr val="b3b3b3"/>
            </a:solidFill>
          </a:ln>
        </c:spPr>
        <c:txPr>
          <a:bodyPr/>
          <a:lstStyle/>
          <a:p>
            <a:pPr>
              <a:defRPr b="0" sz="1000" strike="noStrike" u="none">
                <a:solidFill>
                  <a:srgbClr val="000000"/>
                </a:solidFill>
                <a:uFillTx/>
                <a:latin typeface="Arial"/>
                <a:ea typeface="DejaVu Sans"/>
              </a:defRPr>
            </a:pPr>
          </a:p>
        </c:txPr>
        <c:crossAx val="29726905"/>
        <c:crossBetween val="midCat"/>
      </c:valAx>
      <c:spPr>
        <a:noFill/>
        <a:ln w="0">
          <a:solidFill>
            <a:srgbClr val="b3b3b3"/>
          </a:solidFill>
        </a:ln>
      </c:spPr>
    </c:plotArea>
    <c:plotVisOnly val="1"/>
    <c:dispBlanksAs val="gap"/>
  </c:chart>
  <c:spPr>
    <a:noFill/>
    <a:ln w="0">
      <a:noFill/>
    </a:ln>
  </c:spPr>
</c:chartSpace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3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Для перемещения страницы щёлкните мышью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Для правки формата примечаний щёлкните мышью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&lt;верхний колонтитул&gt;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PlaceHolder 4"/>
          <p:cNvSpPr>
            <a:spLocks noGrp="1"/>
          </p:cNvSpPr>
          <p:nvPr>
            <p:ph type="dt" idx="7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&lt;дата/время&gt;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5"/>
          <p:cNvSpPr>
            <a:spLocks noGrp="1"/>
          </p:cNvSpPr>
          <p:nvPr>
            <p:ph type="ftr" idx="8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6"/>
          <p:cNvSpPr>
            <a:spLocks noGrp="1"/>
          </p:cNvSpPr>
          <p:nvPr>
            <p:ph type="sldNum" idx="9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4A469802-85D2-46A0-AEE9-E4AC755B94A6}" type="slidenum"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&lt;номер&gt;</a:t>
            </a:fld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14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ru-RU" sz="12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7FE5075-7DAE-42BD-A604-469568856C8B}" type="slidenum">
              <a:rPr b="0" lang="ru-RU" sz="12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&lt;номер&gt;</a:t>
            </a:fld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14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ru-RU" sz="12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434A558-A16A-49A6-9036-8A8948E2BDEB}" type="slidenum">
              <a:rPr b="0" lang="ru-RU" sz="12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&lt;номер&gt;</a:t>
            </a:fld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14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ru-RU" sz="12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3D9607F-0DE4-4473-A286-BFBC940C5C97}" type="slidenum">
              <a:rPr b="0" lang="ru-RU" sz="12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&lt;номер&gt;</a:t>
            </a:fld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15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ru-RU" sz="12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144B664-C8BC-4D0D-8500-B5027BEBEC15}" type="slidenum">
              <a:rPr b="0" lang="ru-RU" sz="12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&lt;номер&gt;</a:t>
            </a:fld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15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ru-RU" sz="12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33B3E77-D743-4B6E-9EE8-970C5EB6CD41}" type="slidenum">
              <a:rPr b="0" lang="ru-RU" sz="12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&lt;номер&gt;</a:t>
            </a:fld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15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ru-RU" sz="12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A41B0C5-CBF4-49DE-BEFA-F900407B10B3}" type="slidenum">
              <a:rPr b="0" lang="ru-RU" sz="12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&lt;номер&gt;</a:t>
            </a:fld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16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PlaceHolder 3"/>
          <p:cNvSpPr>
            <a:spLocks noGrp="1"/>
          </p:cNvSpPr>
          <p:nvPr>
            <p:ph type="sldNum" idx="16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ru-RU" sz="12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C1A33AF-6639-469B-9FA0-5580A048AE8F}" type="slidenum">
              <a:rPr b="0" lang="ru-RU" sz="12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&lt;номер&gt;</a:t>
            </a:fld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Пустой слайд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09480" y="708120"/>
            <a:ext cx="1097100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ftr" idx="1"/>
          </p:nvPr>
        </p:nvSpPr>
        <p:spPr>
          <a:xfrm>
            <a:off x="4038480" y="6356520"/>
            <a:ext cx="411300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sldNum" idx="2"/>
          </p:nvPr>
        </p:nvSpPr>
        <p:spPr>
          <a:xfrm>
            <a:off x="8610480" y="6356520"/>
            <a:ext cx="274140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ru-RU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EE52281D-1D5A-472C-82D6-83F26F7920A2}" type="slidenum">
              <a:rPr b="0" lang="ru-RU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dt" idx="3"/>
          </p:nvPr>
        </p:nvSpPr>
        <p:spPr>
          <a:xfrm>
            <a:off x="838080" y="6356520"/>
            <a:ext cx="274140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b="0" lang="ru-RU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ычный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ftr" idx="4"/>
          </p:nvPr>
        </p:nvSpPr>
        <p:spPr>
          <a:xfrm>
            <a:off x="4038480" y="6356520"/>
            <a:ext cx="411300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ldNum" idx="5"/>
          </p:nvPr>
        </p:nvSpPr>
        <p:spPr>
          <a:xfrm>
            <a:off x="8610480" y="6356520"/>
            <a:ext cx="274140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ru-RU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1FAE0A19-55E2-4B18-AE96-E37F875D72E9}" type="slidenum">
              <a:rPr b="0" lang="ru-RU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&lt;номер&gt;</a:t>
            </a:fld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3"/>
          <p:cNvSpPr>
            <a:spLocks noGrp="1"/>
          </p:cNvSpPr>
          <p:nvPr>
            <p:ph type="dt" idx="6"/>
          </p:nvPr>
        </p:nvSpPr>
        <p:spPr>
          <a:xfrm>
            <a:off x="838080" y="6356520"/>
            <a:ext cx="274140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&lt;дата/время&gt;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b="0" lang="ru-RU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chart" Target="../charts/chart1.xml"/><Relationship Id="rId3" Type="http://schemas.openxmlformats.org/officeDocument/2006/relationships/slideLayout" Target="../slideLayouts/slideLayout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2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hyperlink" Target="https://signal-t.ru/eng/catalog/wifi-search-analyzer-/st186/" TargetMode="External"/><Relationship Id="rId3" Type="http://schemas.openxmlformats.org/officeDocument/2006/relationships/slideLayout" Target="../slideLayouts/slideLayout2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image" Target="../media/image4.png"/><Relationship Id="rId3" Type="http://schemas.openxmlformats.org/officeDocument/2006/relationships/slideLayout" Target="../slideLayouts/slideLayout2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2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image" Target="../media/image5.wmf"/><Relationship Id="rId3" Type="http://schemas.openxmlformats.org/officeDocument/2006/relationships/image" Target="../media/image6.wmf"/><Relationship Id="rId4" Type="http://schemas.openxmlformats.org/officeDocument/2006/relationships/image" Target="../media/image7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image" Target="../media/image8.wmf"/><Relationship Id="rId3" Type="http://schemas.openxmlformats.org/officeDocument/2006/relationships/image" Target="../media/image9.wmf"/><Relationship Id="rId4" Type="http://schemas.openxmlformats.org/officeDocument/2006/relationships/image" Target="../media/image10.wmf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Прямоугольник 1"/>
          <p:cNvSpPr/>
          <p:nvPr/>
        </p:nvSpPr>
        <p:spPr>
          <a:xfrm>
            <a:off x="-124560" y="0"/>
            <a:ext cx="12314880" cy="6856200"/>
          </a:xfrm>
          <a:prstGeom prst="rect">
            <a:avLst/>
          </a:prstGeom>
          <a:solidFill>
            <a:srgbClr val="256569"/>
          </a:solidFill>
          <a:ln w="12600">
            <a:solidFill>
              <a:srgbClr val="4472c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ru-RU" sz="1800" strike="noStrike" u="none">
              <a:solidFill>
                <a:schemeClr val="lt1"/>
              </a:solidFill>
              <a:effectLst/>
              <a:uFillTx/>
              <a:latin typeface="Calibri"/>
              <a:ea typeface="DejaVu Sans"/>
            </a:endParaRPr>
          </a:p>
        </p:txBody>
      </p:sp>
      <p:pic>
        <p:nvPicPr>
          <p:cNvPr id="17" name="Рисунок 3" descr=""/>
          <p:cNvPicPr/>
          <p:nvPr/>
        </p:nvPicPr>
        <p:blipFill>
          <a:blip r:embed="rId1"/>
          <a:srcRect l="0" t="80000" r="0" b="0"/>
          <a:stretch/>
        </p:blipFill>
        <p:spPr>
          <a:xfrm>
            <a:off x="628560" y="376560"/>
            <a:ext cx="3129480" cy="1086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" name="TextBox 4"/>
          <p:cNvSpPr/>
          <p:nvPr/>
        </p:nvSpPr>
        <p:spPr>
          <a:xfrm>
            <a:off x="180000" y="1781280"/>
            <a:ext cx="9538560" cy="228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ru-RU" sz="3600" strike="noStrike" u="none">
                <a:solidFill>
                  <a:schemeClr val="lt1"/>
                </a:solidFill>
                <a:effectLst/>
                <a:uFillTx/>
                <a:latin typeface="Book Antiqua"/>
                <a:ea typeface="DejaVu Sans"/>
              </a:rPr>
              <a:t>Мультимодальная модель обнаружения незарегистрированных Wi-Fi точек доступа в кредитно-финансовых организациях </a:t>
            </a:r>
            <a:endParaRPr b="0" lang="ru-RU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9" name="Рисунок 5" descr=""/>
          <p:cNvPicPr/>
          <p:nvPr/>
        </p:nvPicPr>
        <p:blipFill>
          <a:blip r:embed="rId2"/>
          <a:stretch/>
        </p:blipFill>
        <p:spPr>
          <a:xfrm>
            <a:off x="6123600" y="493920"/>
            <a:ext cx="6066720" cy="6362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" name="Прямоугольник 6"/>
          <p:cNvSpPr/>
          <p:nvPr/>
        </p:nvSpPr>
        <p:spPr>
          <a:xfrm flipV="1">
            <a:off x="272880" y="4609800"/>
            <a:ext cx="9484200" cy="76680"/>
          </a:xfrm>
          <a:prstGeom prst="rect">
            <a:avLst/>
          </a:prstGeom>
          <a:solidFill>
            <a:schemeClr val="lt1"/>
          </a:solidFill>
          <a:ln w="12600">
            <a:solidFill>
              <a:srgbClr val="4472c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33480" bIns="33480" anchor="ctr">
            <a:noAutofit/>
          </a:bodyPr>
          <a:p>
            <a:pPr>
              <a:lnSpc>
                <a:spcPct val="100000"/>
              </a:lnSpc>
            </a:pPr>
            <a:endParaRPr b="0" lang="ru-RU" sz="1800" strike="noStrike" u="none">
              <a:solidFill>
                <a:schemeClr val="lt1"/>
              </a:solidFill>
              <a:effectLst/>
              <a:uFillTx/>
              <a:latin typeface="Calibri"/>
              <a:ea typeface="DejaVu Sans"/>
            </a:endParaRPr>
          </a:p>
        </p:txBody>
      </p:sp>
      <p:sp>
        <p:nvSpPr>
          <p:cNvPr id="21" name="TextBox 7"/>
          <p:cNvSpPr/>
          <p:nvPr/>
        </p:nvSpPr>
        <p:spPr>
          <a:xfrm>
            <a:off x="272880" y="5074200"/>
            <a:ext cx="6603480" cy="137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ru-RU" sz="2800" strike="noStrike" u="none">
                <a:solidFill>
                  <a:schemeClr val="lt1"/>
                </a:solidFill>
                <a:effectLst/>
                <a:uFillTx/>
                <a:latin typeface="Book Antiqua"/>
                <a:ea typeface="DejaVu Sans"/>
              </a:rPr>
              <a:t>Выполнил:  </a:t>
            </a:r>
            <a:r>
              <a:rPr b="0" lang="en-US" sz="2800" strike="noStrike" u="none">
                <a:solidFill>
                  <a:schemeClr val="lt1"/>
                </a:solidFill>
                <a:effectLst/>
                <a:uFillTx/>
                <a:latin typeface="Book Antiqua"/>
                <a:ea typeface="DejaVu Sans"/>
              </a:rPr>
              <a:t>Ботников Дмитрий</a:t>
            </a:r>
            <a:br>
              <a:rPr sz="2800"/>
            </a:br>
            <a:r>
              <a:rPr b="0" lang="ru-RU" sz="2800" strike="noStrike" u="none">
                <a:solidFill>
                  <a:schemeClr val="lt1"/>
                </a:solidFill>
                <a:effectLst/>
                <a:uFillTx/>
                <a:latin typeface="Book Antiqua"/>
                <a:ea typeface="DejaVu Sans"/>
              </a:rPr>
              <a:t>Руководитель: к.т.н, доцент 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ru-RU" sz="2800" strike="noStrike" u="none">
                <a:solidFill>
                  <a:schemeClr val="lt1"/>
                </a:solidFill>
                <a:effectLst/>
                <a:uFillTx/>
                <a:latin typeface="Book Antiqua"/>
                <a:ea typeface="DejaVu Sans"/>
              </a:rPr>
              <a:t>Носков Денис Павлович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extBox 6"/>
          <p:cNvSpPr/>
          <p:nvPr/>
        </p:nvSpPr>
        <p:spPr>
          <a:xfrm>
            <a:off x="2115000" y="975960"/>
            <a:ext cx="77706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3" name="TextBox 9"/>
          <p:cNvSpPr/>
          <p:nvPr/>
        </p:nvSpPr>
        <p:spPr>
          <a:xfrm>
            <a:off x="1451520" y="4462560"/>
            <a:ext cx="87886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ru-RU" sz="1400" strike="noStrike" u="none">
                <a:solidFill>
                  <a:srgbClr val="535353"/>
                </a:solidFill>
                <a:effectLst/>
                <a:uFillTx/>
                <a:latin typeface="Book Antiqua"/>
                <a:ea typeface="Times New Roman"/>
              </a:rPr>
              <a:t>Рисунок  1 – Рост числа атак на публичные Wi-Fi сети в 2024-2026 годах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TextBox 8"/>
          <p:cNvSpPr/>
          <p:nvPr/>
        </p:nvSpPr>
        <p:spPr>
          <a:xfrm>
            <a:off x="1566720" y="1379880"/>
            <a:ext cx="8558280" cy="79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343080" indent="-343080" defTabSz="914400">
              <a:lnSpc>
                <a:spcPct val="100000"/>
              </a:lnSpc>
              <a:buClr>
                <a:srgbClr val="535353"/>
              </a:buClr>
              <a:buFont typeface="OpenSymbol"/>
              <a:buAutoNum type="arabicPeriod"/>
            </a:pPr>
            <a:r>
              <a:rPr b="1" lang="ru-RU" sz="1400" strike="noStrike" u="none">
                <a:solidFill>
                  <a:srgbClr val="535353"/>
                </a:solidFill>
                <a:effectLst/>
                <a:uFillTx/>
                <a:latin typeface="Book Antiqua"/>
                <a:ea typeface="Times New Roman"/>
              </a:rPr>
              <a:t>Широкое внедрение Wi-Fi </a:t>
            </a:r>
            <a:r>
              <a:rPr b="0" lang="ru-RU" sz="1400" strike="noStrike" u="none">
                <a:solidFill>
                  <a:srgbClr val="535353"/>
                </a:solidFill>
                <a:effectLst/>
                <a:uFillTx/>
                <a:latin typeface="Book Antiqua"/>
                <a:ea typeface="Times New Roman"/>
              </a:rPr>
              <a:t>в кредитно-финансовых организациях порождает угрозу незарегистрированных и фальшивых точек доступа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TextBox 10"/>
          <p:cNvSpPr/>
          <p:nvPr/>
        </p:nvSpPr>
        <p:spPr>
          <a:xfrm>
            <a:off x="1815840" y="4946760"/>
            <a:ext cx="8638560" cy="191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ru-RU" sz="1400" strike="noStrike" u="none">
                <a:solidFill>
                  <a:srgbClr val="535353"/>
                </a:solidFill>
                <a:effectLst/>
                <a:uFillTx/>
                <a:latin typeface="Book Antiqua"/>
                <a:ea typeface="DejaVu Sans"/>
              </a:rPr>
              <a:t>2. Независимые исследования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ru-RU" sz="1400" strike="noStrike" u="none">
                <a:solidFill>
                  <a:srgbClr val="535353"/>
                </a:solidFill>
                <a:effectLst/>
                <a:uFillTx/>
                <a:latin typeface="Book Antiqua"/>
                <a:ea typeface="DejaVu Sans"/>
              </a:rPr>
              <a:t>Статья «Россиян стали чаще атаковать через публичные сети Wi-Fi [1]» подтверждает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535353"/>
              </a:buClr>
              <a:buFont typeface="OpenSymbol"/>
              <a:buChar char="-"/>
            </a:pPr>
            <a:r>
              <a:rPr b="0" lang="ru-RU" sz="1400" strike="noStrike" u="none">
                <a:solidFill>
                  <a:srgbClr val="535353"/>
                </a:solidFill>
                <a:effectLst/>
                <a:uFillTx/>
                <a:latin typeface="Book Antiqua"/>
                <a:ea typeface="DejaVu Sans"/>
              </a:rPr>
              <a:t>Увеличение атак через публичные Wi-Fi сети на 38% за 2026 и 24% за 2025;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535353"/>
              </a:buClr>
              <a:buFont typeface="OpenSymbol"/>
              <a:buChar char="-"/>
            </a:pPr>
            <a:r>
              <a:rPr b="0" lang="ru-RU" sz="1400" strike="noStrike" u="none">
                <a:solidFill>
                  <a:srgbClr val="535353"/>
                </a:solidFill>
                <a:effectLst/>
                <a:uFillTx/>
                <a:latin typeface="Book Antiqua"/>
                <a:ea typeface="DejaVu Sans"/>
              </a:rPr>
              <a:t>Рост применения фальшивых точек доступа, визуально неотличимых от легальных; 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535353"/>
              </a:buClr>
              <a:buFont typeface="OpenSymbol"/>
              <a:buChar char="-"/>
            </a:pPr>
            <a:r>
              <a:rPr b="0" lang="ru-RU" sz="1400" strike="noStrike" u="none">
                <a:solidFill>
                  <a:srgbClr val="535353"/>
                </a:solidFill>
                <a:effectLst/>
                <a:uFillTx/>
                <a:latin typeface="Book Antiqua"/>
                <a:ea typeface="DejaVu Sans"/>
              </a:rPr>
              <a:t>Возможность использования скомпрометированных Wi-Fi сетей для вторжения в корпоративные сети.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26" name="Группа 1"/>
          <p:cNvGrpSpPr/>
          <p:nvPr/>
        </p:nvGrpSpPr>
        <p:grpSpPr>
          <a:xfrm>
            <a:off x="0" y="427680"/>
            <a:ext cx="12034440" cy="609480"/>
            <a:chOff x="0" y="427680"/>
            <a:chExt cx="12034440" cy="609480"/>
          </a:xfrm>
        </p:grpSpPr>
        <p:pic>
          <p:nvPicPr>
            <p:cNvPr id="27" name="Рисунок 4" descr=""/>
            <p:cNvPicPr/>
            <p:nvPr/>
          </p:nvPicPr>
          <p:blipFill>
            <a:blip r:embed="rId1"/>
            <a:srcRect l="0" t="23835" r="0" b="55754"/>
            <a:stretch/>
          </p:blipFill>
          <p:spPr>
            <a:xfrm>
              <a:off x="10311840" y="427680"/>
              <a:ext cx="1722600" cy="60948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28" name="Пятиугольник 4"/>
            <p:cNvSpPr/>
            <p:nvPr/>
          </p:nvSpPr>
          <p:spPr>
            <a:xfrm>
              <a:off x="0" y="484920"/>
              <a:ext cx="5387760" cy="552240"/>
            </a:xfrm>
            <a:prstGeom prst="homePlate">
              <a:avLst>
                <a:gd name="adj" fmla="val 50000"/>
              </a:avLst>
            </a:prstGeom>
            <a:solidFill>
              <a:srgbClr val="256569"/>
            </a:solidFill>
            <a:ln w="126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ru-RU" sz="1800" strike="noStrike" u="none">
                <a:solidFill>
                  <a:schemeClr val="lt1"/>
                </a:solidFill>
                <a:effectLst/>
                <a:uFillTx/>
                <a:latin typeface="Calibri"/>
                <a:ea typeface="DejaVu Sans"/>
              </a:endParaRPr>
            </a:p>
          </p:txBody>
        </p:sp>
        <p:sp>
          <p:nvSpPr>
            <p:cNvPr id="29" name="TextBox 14"/>
            <p:cNvSpPr/>
            <p:nvPr/>
          </p:nvSpPr>
          <p:spPr>
            <a:xfrm>
              <a:off x="141120" y="588960"/>
              <a:ext cx="3016440" cy="363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spAutoFit/>
            </a:bodyPr>
            <a:p>
              <a:pPr defTabSz="457200">
                <a:lnSpc>
                  <a:spcPct val="100000"/>
                </a:lnSpc>
              </a:pPr>
              <a:r>
                <a:rPr b="1" lang="ru-RU" sz="1800" strike="noStrike" u="none">
                  <a:solidFill>
                    <a:schemeClr val="lt1"/>
                  </a:solidFill>
                  <a:effectLst/>
                  <a:uFillTx/>
                  <a:latin typeface="Book Antiqua"/>
                  <a:ea typeface="DejaVu Sans"/>
                </a:rPr>
                <a:t>АКТУАЛЬНОСТЬ ТЕМЫ</a:t>
              </a:r>
              <a:endPara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aphicFrame>
        <p:nvGraphicFramePr>
          <p:cNvPr id="30" name=""/>
          <p:cNvGraphicFramePr/>
          <p:nvPr/>
        </p:nvGraphicFramePr>
        <p:xfrm>
          <a:off x="1671120" y="2017440"/>
          <a:ext cx="8199720" cy="23025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31" name=""/>
          <p:cNvSpPr/>
          <p:nvPr/>
        </p:nvSpPr>
        <p:spPr>
          <a:xfrm>
            <a:off x="180000" y="6338880"/>
            <a:ext cx="11879280" cy="76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ru-RU" sz="1100" strike="noStrike" u="none">
                <a:solidFill>
                  <a:srgbClr val="535353"/>
                </a:solidFill>
                <a:effectLst/>
                <a:uFillTx/>
                <a:latin typeface="Book Antiqua"/>
                <a:ea typeface="DejaVu Sans"/>
              </a:rPr>
              <a:t>[1] Россиян стали чаще атаковать через публичные сети Wi-Fi / Известия. – 2026. – 15 янв. – URL: https://iz.ru/2025150/2026-01-15/rossiian-stali-chashche-atakovat-cherez-publichnye-seti-wi-fi (дата обращения: 25.04.2026).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TextBox 5"/>
          <p:cNvSpPr/>
          <p:nvPr/>
        </p:nvSpPr>
        <p:spPr>
          <a:xfrm>
            <a:off x="1665720" y="541800"/>
            <a:ext cx="17787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ru-RU" sz="1800" strike="noStrike" u="none">
                <a:solidFill>
                  <a:schemeClr val="lt1"/>
                </a:solidFill>
                <a:effectLst/>
                <a:uFillTx/>
                <a:latin typeface="Book Antiqua"/>
                <a:ea typeface="DejaVu Sans"/>
              </a:rPr>
              <a:t>Цель и задачи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TextBox 6"/>
          <p:cNvSpPr/>
          <p:nvPr/>
        </p:nvSpPr>
        <p:spPr>
          <a:xfrm>
            <a:off x="720000" y="1119240"/>
            <a:ext cx="10978560" cy="542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just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ru-RU" sz="1800" strike="noStrike" u="none">
                <a:solidFill>
                  <a:schemeClr val="accent3">
                    <a:lumMod val="50000"/>
                  </a:schemeClr>
                </a:solidFill>
                <a:effectLst/>
                <a:uFillTx/>
                <a:latin typeface="Book Antiqua"/>
                <a:ea typeface="DejaVu Sans"/>
              </a:rPr>
              <a:t>     Цель:</a:t>
            </a:r>
            <a:r>
              <a:rPr b="0" lang="ru-RU" sz="1800" strike="noStrike" u="none">
                <a:solidFill>
                  <a:schemeClr val="accent3">
                    <a:lumMod val="50000"/>
                  </a:schemeClr>
                </a:solidFill>
                <a:effectLst/>
                <a:uFillTx/>
                <a:latin typeface="Book Antiqua"/>
                <a:ea typeface="DejaVu Sans"/>
              </a:rPr>
              <a:t> разработка мультимодальной модели обнаружения незарегистрированных Wi-Fi точек доступа в кредитно-финансовых организациях, позволяющей повысить оперативность их выявления как нарушителей политики информационной безопасности.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457200">
              <a:lnSpc>
                <a:spcPct val="100000"/>
              </a:lnSpc>
              <a:tabLst>
                <a:tab algn="l" pos="0"/>
              </a:tabLst>
            </a:pPr>
            <a:r>
              <a:rPr b="1" lang="ru-RU" sz="1800" strike="noStrike" u="none">
                <a:solidFill>
                  <a:schemeClr val="accent3">
                    <a:lumMod val="50000"/>
                  </a:schemeClr>
                </a:solidFill>
                <a:effectLst/>
                <a:uFillTx/>
                <a:latin typeface="Book Antiqua"/>
                <a:ea typeface="DejaVu Sans"/>
              </a:rPr>
              <a:t>Объект исследования: </a:t>
            </a:r>
            <a:r>
              <a:rPr b="0" lang="ru-RU" sz="1800" strike="noStrike" u="none">
                <a:solidFill>
                  <a:schemeClr val="accent3">
                    <a:lumMod val="50000"/>
                  </a:schemeClr>
                </a:solidFill>
                <a:effectLst/>
                <a:uFillTx/>
                <a:latin typeface="Book Antiqua"/>
                <a:ea typeface="DejaVu Sans"/>
              </a:rPr>
              <a:t>беспроводная среда и сетевая инфраструктура кредитно-финансовых организаций с точки зрения угроз, создаваемых незарегистрированными Wi-Fi точками доступа.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457200">
              <a:lnSpc>
                <a:spcPct val="100000"/>
              </a:lnSpc>
              <a:tabLst>
                <a:tab algn="l" pos="0"/>
              </a:tabLst>
            </a:pP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457200">
              <a:lnSpc>
                <a:spcPct val="100000"/>
              </a:lnSpc>
              <a:tabLst>
                <a:tab algn="l" pos="0"/>
              </a:tabLst>
            </a:pPr>
            <a:r>
              <a:rPr b="1" lang="ru-RU" sz="1800" strike="noStrike" u="none">
                <a:solidFill>
                  <a:schemeClr val="accent3">
                    <a:lumMod val="50000"/>
                  </a:schemeClr>
                </a:solidFill>
                <a:effectLst/>
                <a:uFillTx/>
                <a:latin typeface="Book Antiqua"/>
                <a:ea typeface="DejaVu Sans"/>
              </a:rPr>
              <a:t>Предмет исследования: </a:t>
            </a:r>
            <a:r>
              <a:rPr b="0" lang="ru-RU" sz="1800" strike="noStrike" u="none">
                <a:solidFill>
                  <a:schemeClr val="accent3">
                    <a:lumMod val="50000"/>
                  </a:schemeClr>
                </a:solidFill>
                <a:effectLst/>
                <a:uFillTx/>
                <a:latin typeface="Book Antiqua"/>
                <a:ea typeface="DejaVu Sans"/>
              </a:rPr>
              <a:t>методы и алгоритмы пассивного обнаружения незарегистрированных Wi-Fi точек доступа как нарушителей политики информационной безопасности.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457200">
              <a:lnSpc>
                <a:spcPct val="100000"/>
              </a:lnSpc>
              <a:tabLst>
                <a:tab algn="l" pos="0"/>
              </a:tabLst>
            </a:pP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457200">
              <a:lnSpc>
                <a:spcPct val="100000"/>
              </a:lnSpc>
              <a:tabLst>
                <a:tab algn="l" pos="0"/>
              </a:tabLst>
            </a:pPr>
            <a:r>
              <a:rPr b="1" lang="ru-RU" sz="1800" strike="noStrike" u="none">
                <a:solidFill>
                  <a:schemeClr val="accent3">
                    <a:lumMod val="50000"/>
                  </a:schemeClr>
                </a:solidFill>
                <a:effectLst/>
                <a:uFillTx/>
                <a:latin typeface="Book Antiqua"/>
                <a:ea typeface="DejaVu Sans"/>
              </a:rPr>
              <a:t>Задачи: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457200" algn="just" defTabSz="457200">
              <a:lnSpc>
                <a:spcPct val="100000"/>
              </a:lnSpc>
              <a:buClr>
                <a:srgbClr val="535353"/>
              </a:buClr>
              <a:buFont typeface="OpenSymbol"/>
              <a:buAutoNum type="arabicPeriod"/>
              <a:tabLst>
                <a:tab algn="l" pos="0"/>
              </a:tabLst>
            </a:pPr>
            <a:r>
              <a:rPr b="0" lang="ru-RU" sz="1800" strike="noStrike" u="none">
                <a:solidFill>
                  <a:schemeClr val="accent3">
                    <a:lumMod val="50000"/>
                  </a:schemeClr>
                </a:solidFill>
                <a:effectLst/>
                <a:uFillTx/>
                <a:latin typeface="Book Antiqua"/>
                <a:ea typeface="DejaVu Sans"/>
              </a:rPr>
              <a:t>Провести анализ предметной области в части существующих подходов к обнаружению источников излучения Wi-Fi сетей.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457200" algn="just" defTabSz="457200">
              <a:lnSpc>
                <a:spcPct val="100000"/>
              </a:lnSpc>
              <a:buClr>
                <a:srgbClr val="535353"/>
              </a:buClr>
              <a:buFont typeface="OpenSymbol"/>
              <a:buAutoNum type="arabicPeriod"/>
              <a:tabLst>
                <a:tab algn="l" pos="0"/>
              </a:tabLst>
            </a:pPr>
            <a:r>
              <a:rPr b="0" lang="ru-RU" sz="1800" strike="noStrike" u="none">
                <a:solidFill>
                  <a:schemeClr val="accent3">
                    <a:lumMod val="50000"/>
                  </a:schemeClr>
                </a:solidFill>
                <a:effectLst/>
                <a:uFillTx/>
                <a:latin typeface="Book Antiqua"/>
                <a:ea typeface="DejaVu Sans"/>
              </a:rPr>
              <a:t>Провести анализ существующих подходов к обеспечению безопасности Wi-Fi сетей в кредитно-финансовых организациях.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457200" algn="just" defTabSz="457200">
              <a:lnSpc>
                <a:spcPct val="100000"/>
              </a:lnSpc>
              <a:buClr>
                <a:srgbClr val="535353"/>
              </a:buClr>
              <a:buFont typeface="OpenSymbol"/>
              <a:buAutoNum type="arabicPeriod"/>
              <a:tabLst>
                <a:tab algn="l" pos="0"/>
              </a:tabLst>
            </a:pPr>
            <a:r>
              <a:rPr b="0" lang="ru-RU" sz="1800" strike="noStrike" u="none">
                <a:solidFill>
                  <a:schemeClr val="accent3">
                    <a:lumMod val="50000"/>
                  </a:schemeClr>
                </a:solidFill>
                <a:effectLst/>
                <a:uFillTx/>
                <a:latin typeface="Book Antiqua"/>
                <a:ea typeface="DejaVu Sans"/>
              </a:rPr>
              <a:t>Разработать мультимодальную модель обнаружения незарегистрированных Wi-Fi точек доступа в кредитно-финансовых организациях и сформировать требования к программно-аппаратному комплексу, ее реализующему.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457200" algn="just" defTabSz="457200">
              <a:lnSpc>
                <a:spcPct val="100000"/>
              </a:lnSpc>
              <a:buClr>
                <a:srgbClr val="535353"/>
              </a:buClr>
              <a:buFont typeface="OpenSymbol"/>
              <a:buAutoNum type="arabicPeriod"/>
              <a:tabLst>
                <a:tab algn="l" pos="0"/>
              </a:tabLst>
            </a:pPr>
            <a:r>
              <a:rPr b="0" lang="ru-RU" sz="1800" strike="noStrike" u="none">
                <a:solidFill>
                  <a:schemeClr val="accent3">
                    <a:lumMod val="50000"/>
                  </a:schemeClr>
                </a:solidFill>
                <a:effectLst/>
                <a:uFillTx/>
                <a:latin typeface="Book Antiqua"/>
                <a:ea typeface="DejaVu Sans"/>
              </a:rPr>
              <a:t>Разработать практические рекомендации по применению разработанных решений и провести оценку их эффективности.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34" name="Группа 7"/>
          <p:cNvGrpSpPr/>
          <p:nvPr/>
        </p:nvGrpSpPr>
        <p:grpSpPr>
          <a:xfrm>
            <a:off x="0" y="427680"/>
            <a:ext cx="12034440" cy="609480"/>
            <a:chOff x="0" y="427680"/>
            <a:chExt cx="12034440" cy="609480"/>
          </a:xfrm>
        </p:grpSpPr>
        <p:pic>
          <p:nvPicPr>
            <p:cNvPr id="35" name="Рисунок 8" descr=""/>
            <p:cNvPicPr/>
            <p:nvPr/>
          </p:nvPicPr>
          <p:blipFill>
            <a:blip r:embed="rId1"/>
            <a:srcRect l="0" t="23835" r="0" b="55754"/>
            <a:stretch/>
          </p:blipFill>
          <p:spPr>
            <a:xfrm>
              <a:off x="10311840" y="427680"/>
              <a:ext cx="1722600" cy="60948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36" name="Пятиугольник 4"/>
            <p:cNvSpPr/>
            <p:nvPr/>
          </p:nvSpPr>
          <p:spPr>
            <a:xfrm>
              <a:off x="0" y="484920"/>
              <a:ext cx="5387760" cy="552240"/>
            </a:xfrm>
            <a:prstGeom prst="homePlate">
              <a:avLst>
                <a:gd name="adj" fmla="val 50000"/>
              </a:avLst>
            </a:prstGeom>
            <a:solidFill>
              <a:srgbClr val="256569"/>
            </a:solidFill>
            <a:ln w="126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ru-RU" sz="1800" strike="noStrike" u="none">
                <a:solidFill>
                  <a:schemeClr val="lt1"/>
                </a:solidFill>
                <a:effectLst/>
                <a:uFillTx/>
                <a:latin typeface="Calibri"/>
                <a:ea typeface="DejaVu Sans"/>
              </a:endParaRPr>
            </a:p>
          </p:txBody>
        </p:sp>
        <p:sp>
          <p:nvSpPr>
            <p:cNvPr id="37" name="TextBox 10"/>
            <p:cNvSpPr/>
            <p:nvPr/>
          </p:nvSpPr>
          <p:spPr>
            <a:xfrm>
              <a:off x="141120" y="588960"/>
              <a:ext cx="2708280" cy="363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spAutoFit/>
            </a:bodyPr>
            <a:p>
              <a:pPr defTabSz="457200">
                <a:lnSpc>
                  <a:spcPct val="100000"/>
                </a:lnSpc>
              </a:pPr>
              <a:r>
                <a:rPr b="1" lang="ru-RU" sz="1800" strike="noStrike" u="none">
                  <a:solidFill>
                    <a:schemeClr val="lt1"/>
                  </a:solidFill>
                  <a:effectLst/>
                  <a:uFillTx/>
                  <a:latin typeface="Book Antiqua"/>
                  <a:ea typeface="DejaVu Sans"/>
                </a:rPr>
                <a:t>ЦЕЛЬ И ЗАДАЧИ ВКР</a:t>
              </a:r>
              <a:endPara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extBox 6"/>
          <p:cNvSpPr/>
          <p:nvPr/>
        </p:nvSpPr>
        <p:spPr>
          <a:xfrm>
            <a:off x="196560" y="1260000"/>
            <a:ext cx="7722360" cy="164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ru-RU" sz="1600" strike="noStrike" u="none">
                <a:solidFill>
                  <a:schemeClr val="dk1">
                    <a:lumMod val="65000"/>
                    <a:lumOff val="35000"/>
                  </a:schemeClr>
                </a:solidFill>
                <a:effectLst/>
                <a:uFillTx/>
                <a:latin typeface="Book Antiqua"/>
                <a:ea typeface="DejaVu Sans"/>
              </a:rPr>
              <a:t>1.  Проведен анализ предметной области в части существующих подходов к обнаружению источников излучения Wi-Fi сетей.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ru-RU" sz="1600" strike="noStrike" u="none">
                <a:solidFill>
                  <a:schemeClr val="dk1">
                    <a:lumMod val="65000"/>
                    <a:lumOff val="35000"/>
                  </a:schemeClr>
                </a:solidFill>
                <a:effectLst/>
                <a:uFillTx/>
                <a:latin typeface="Book Antiqua"/>
                <a:ea typeface="DejaVu Sans"/>
              </a:rPr>
              <a:t>2. Выявлена необходимость применения мультимодального подхода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TextBox 8"/>
          <p:cNvSpPr/>
          <p:nvPr/>
        </p:nvSpPr>
        <p:spPr>
          <a:xfrm>
            <a:off x="1464480" y="981000"/>
            <a:ext cx="91544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ru-RU" sz="1800" strike="noStrike" u="sng">
                <a:solidFill>
                  <a:schemeClr val="accent3">
                    <a:lumMod val="50000"/>
                  </a:schemeClr>
                </a:solidFill>
                <a:effectLst/>
                <a:uFillTx/>
                <a:latin typeface="Book Antiqua"/>
                <a:ea typeface="DejaVu Sans"/>
              </a:rPr>
              <a:t>Провести анализ предметной области в части существующих подходов к обнаружению источников излучения Wi-Fi сетей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Rectangle 1"/>
          <p:cNvSpPr/>
          <p:nvPr/>
        </p:nvSpPr>
        <p:spPr>
          <a:xfrm>
            <a:off x="65880" y="2340000"/>
            <a:ext cx="7313400" cy="30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wrap="none" lIns="90000" rIns="90000" tIns="45000" bIns="45000" anchor="ctr" anchorCtr="1">
            <a:spAutoFit/>
          </a:bodyPr>
          <a:p>
            <a:pPr algn="r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ru-RU" sz="1400" strike="noStrike" u="none">
                <a:solidFill>
                  <a:schemeClr val="accent3">
                    <a:lumMod val="50000"/>
                  </a:schemeClr>
                </a:solidFill>
                <a:effectLst/>
                <a:uFillTx/>
                <a:latin typeface="Book Antiqua"/>
                <a:ea typeface="Times New Roman"/>
              </a:rPr>
              <a:t>Таблица 1 – Классификация методов обнаружения и локализации источников Wi-Fi 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41" name="Таблица 12"/>
          <p:cNvGraphicFramePr/>
          <p:nvPr/>
        </p:nvGraphicFramePr>
        <p:xfrm>
          <a:off x="196560" y="2720880"/>
          <a:ext cx="11699280" cy="4119840"/>
        </p:xfrm>
        <a:graphic>
          <a:graphicData uri="http://schemas.openxmlformats.org/drawingml/2006/table">
            <a:tbl>
              <a:tblPr/>
              <a:tblGrid>
                <a:gridCol w="2333160"/>
                <a:gridCol w="2820960"/>
                <a:gridCol w="3695400"/>
                <a:gridCol w="2850120"/>
              </a:tblGrid>
              <a:tr h="2898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191"/>
                        </a:spcBef>
                        <a:spcAft>
                          <a:spcPts val="992"/>
                        </a:spcAft>
                      </a:pPr>
                      <a:r>
                        <a:rPr b="1" lang="ru-RU" sz="1300" strike="noStrike" u="none">
                          <a:solidFill>
                            <a:schemeClr val="lt1"/>
                          </a:solidFill>
                          <a:effectLst/>
                          <a:uFillTx/>
                          <a:latin typeface="Book Antiqua"/>
                        </a:rPr>
                        <a:t>Группа методов </a:t>
                      </a:r>
                      <a:endParaRPr b="0" lang="ru-RU" sz="13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191"/>
                        </a:spcBef>
                        <a:spcAft>
                          <a:spcPts val="992"/>
                        </a:spcAft>
                      </a:pPr>
                      <a:r>
                        <a:rPr b="1" lang="ru-RU" sz="1300" strike="noStrike" u="none">
                          <a:solidFill>
                            <a:schemeClr val="lt1"/>
                          </a:solidFill>
                          <a:effectLst/>
                          <a:uFillTx/>
                          <a:latin typeface="Book Antiqua"/>
                        </a:rPr>
                        <a:t>Используемые признаки </a:t>
                      </a:r>
                      <a:endParaRPr b="0" lang="ru-RU" sz="13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191"/>
                        </a:spcBef>
                        <a:spcAft>
                          <a:spcPts val="992"/>
                        </a:spcAft>
                      </a:pPr>
                      <a:r>
                        <a:rPr b="1" lang="ru-RU" sz="1300" strike="noStrike" u="none">
                          <a:solidFill>
                            <a:schemeClr val="lt1"/>
                          </a:solidFill>
                          <a:effectLst/>
                          <a:uFillTx/>
                          <a:latin typeface="Book Antiqua"/>
                        </a:rPr>
                        <a:t>Основные возможности </a:t>
                      </a:r>
                      <a:endParaRPr b="0" lang="ru-RU" sz="13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191"/>
                        </a:spcBef>
                        <a:spcAft>
                          <a:spcPts val="992"/>
                        </a:spcAft>
                      </a:pPr>
                      <a:r>
                        <a:rPr b="1" lang="ru-RU" sz="1300" strike="noStrike" u="none">
                          <a:solidFill>
                            <a:schemeClr val="lt1"/>
                          </a:solidFill>
                          <a:effectLst/>
                          <a:uFillTx/>
                          <a:latin typeface="Book Antiqua"/>
                        </a:rPr>
                        <a:t>Характерные ограничения </a:t>
                      </a:r>
                      <a:endParaRPr b="0" lang="ru-RU" sz="13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</a:tr>
              <a:tr h="4878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191"/>
                        </a:spcBef>
                        <a:spcAft>
                          <a:spcPts val="992"/>
                        </a:spcAft>
                      </a:pPr>
                      <a:r>
                        <a:rPr b="0" lang="en-US" sz="13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Book Antiqua"/>
                        </a:rPr>
                        <a:t>Логические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191"/>
                        </a:spcBef>
                        <a:spcAft>
                          <a:spcPts val="992"/>
                        </a:spcAft>
                      </a:pPr>
                      <a:r>
                        <a:rPr b="0" lang="ru-RU" sz="13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Book Antiqua"/>
                        </a:rPr>
                        <a:t>SSID, BSSID, MAC-адреса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191"/>
                        </a:spcBef>
                        <a:spcAft>
                          <a:spcPts val="992"/>
                        </a:spcAft>
                      </a:pPr>
                      <a:r>
                        <a:rPr b="0" lang="ru-RU" sz="13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Book Antiqua"/>
                        </a:rPr>
                        <a:t>Высокая вычислительная эффективность, простота реализации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191"/>
                        </a:spcBef>
                        <a:spcAft>
                          <a:spcPts val="992"/>
                        </a:spcAft>
                      </a:pPr>
                      <a:r>
                        <a:rPr b="0" lang="ru-RU" sz="13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Book Antiqua"/>
                        </a:rPr>
                        <a:t>Уязвимость к подмене идентификаторов (спуфинг)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  <a:tr h="8838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191"/>
                        </a:spcBef>
                        <a:spcAft>
                          <a:spcPts val="992"/>
                        </a:spcAft>
                      </a:pPr>
                      <a:r>
                        <a:rPr b="0" lang="en-US" sz="13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Book Antiqua"/>
                        </a:rPr>
                        <a:t>Сигнатурно-протокольные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191"/>
                        </a:spcBef>
                        <a:spcAft>
                          <a:spcPts val="992"/>
                        </a:spcAft>
                      </a:pPr>
                      <a:r>
                        <a:rPr b="0" lang="ru-RU" sz="13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Book Antiqua"/>
                        </a:rPr>
                        <a:t>Структура и последовательности управляющих и служебных кадров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191"/>
                        </a:spcBef>
                        <a:spcAft>
                          <a:spcPts val="992"/>
                        </a:spcAft>
                      </a:pPr>
                      <a:r>
                        <a:rPr b="0" lang="ru-RU" sz="13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Book Antiqua"/>
                        </a:rPr>
                        <a:t>Обнаружение известных сценариев атак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191"/>
                        </a:spcBef>
                        <a:spcAft>
                          <a:spcPts val="992"/>
                        </a:spcAft>
                      </a:pPr>
                      <a:r>
                        <a:rPr b="0" lang="ru-RU" sz="13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Book Antiqua"/>
                        </a:rPr>
                        <a:t>Ограничены только формализованными угрозами; не выявляют новые типы атак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  <a:tr h="8838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191"/>
                        </a:spcBef>
                        <a:spcAft>
                          <a:spcPts val="992"/>
                        </a:spcAft>
                      </a:pPr>
                      <a:r>
                        <a:rPr b="0" lang="en-US" sz="13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Book Antiqua"/>
                        </a:rPr>
                        <a:t>Статистические и поведенческие 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191"/>
                        </a:spcBef>
                        <a:spcAft>
                          <a:spcPts val="992"/>
                        </a:spcAft>
                      </a:pPr>
                      <a:r>
                        <a:rPr b="0" lang="ru-RU" sz="13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Book Antiqua"/>
                        </a:rPr>
                        <a:t>Агрегированные характеристики активности: частота кадров, временные интервалы, распределения уровня сигнала 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191"/>
                        </a:spcBef>
                        <a:spcAft>
                          <a:spcPts val="992"/>
                        </a:spcAft>
                      </a:pPr>
                      <a:r>
                        <a:rPr b="0" lang="ru-RU" sz="13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Book Antiqua"/>
                        </a:rPr>
                        <a:t>Выявление ранее неизвестных аномалий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191"/>
                        </a:spcBef>
                        <a:spcAft>
                          <a:spcPts val="992"/>
                        </a:spcAft>
                      </a:pPr>
                      <a:r>
                        <a:rPr b="0" lang="ru-RU" sz="13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Book Antiqua"/>
                        </a:rPr>
                        <a:t>Зависимость от качества и полноты накопленных данных, необходимость адаптации к конкретной среде 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  <a:tr h="8838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191"/>
                        </a:spcBef>
                        <a:spcAft>
                          <a:spcPts val="992"/>
                        </a:spcAft>
                      </a:pPr>
                      <a:r>
                        <a:rPr b="0" lang="en-US" sz="13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Book Antiqua"/>
                        </a:rPr>
                        <a:t>На основе информации о состоянии канала (CSI)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191"/>
                        </a:spcBef>
                        <a:spcAft>
                          <a:spcPts val="992"/>
                        </a:spcAft>
                      </a:pPr>
                      <a:r>
                        <a:rPr b="0" lang="ru-RU" sz="13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Book Antiqua"/>
                        </a:rPr>
                        <a:t>Амплитудно-фазовые характеристики поднесущих OFDM-сигнала 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191"/>
                        </a:spcBef>
                        <a:spcAft>
                          <a:spcPts val="992"/>
                        </a:spcAft>
                      </a:pPr>
                      <a:r>
                        <a:rPr b="0" lang="ru-RU" sz="13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Book Antiqua"/>
                        </a:rPr>
                        <a:t>Высокая детализация описания радиоканала, возможность различения устройств с одинаковыми сетевыми идентификаторами 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191"/>
                        </a:spcBef>
                        <a:spcAft>
                          <a:spcPts val="992"/>
                        </a:spcAft>
                      </a:pPr>
                      <a:r>
                        <a:rPr b="0" lang="ru-RU" sz="13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Book Antiqua"/>
                        </a:rPr>
                        <a:t>Повышенные требования к аппаратной реализации, чувствительность к изменениям окружающей среды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  <a:tr h="54288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191"/>
                        </a:spcBef>
                        <a:spcAft>
                          <a:spcPts val="992"/>
                        </a:spcAft>
                      </a:pPr>
                      <a:r>
                        <a:rPr b="0" lang="ru-RU" sz="13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Book Antiqua"/>
                        </a:rPr>
                        <a:t>Физические (RSSI) 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3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Book Antiqua"/>
                        </a:rPr>
                        <a:t>Мощность принимаемого сигнала (RSSI)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3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Book Antiqua"/>
                        </a:rPr>
                        <a:t>Возможность приблизительной локализации источников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3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Book Antiqua"/>
                        </a:rPr>
                        <a:t>Высокая чувствительность к многолучевому распространению и условиям среды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</a:tbl>
          </a:graphicData>
        </a:graphic>
      </p:graphicFrame>
      <p:grpSp>
        <p:nvGrpSpPr>
          <p:cNvPr id="42" name="Группа 9"/>
          <p:cNvGrpSpPr/>
          <p:nvPr/>
        </p:nvGrpSpPr>
        <p:grpSpPr>
          <a:xfrm>
            <a:off x="0" y="427680"/>
            <a:ext cx="12034440" cy="609480"/>
            <a:chOff x="0" y="427680"/>
            <a:chExt cx="12034440" cy="609480"/>
          </a:xfrm>
        </p:grpSpPr>
        <p:pic>
          <p:nvPicPr>
            <p:cNvPr id="43" name="Рисунок 11" descr=""/>
            <p:cNvPicPr/>
            <p:nvPr/>
          </p:nvPicPr>
          <p:blipFill>
            <a:blip r:embed="rId1"/>
            <a:srcRect l="0" t="23835" r="0" b="55754"/>
            <a:stretch/>
          </p:blipFill>
          <p:spPr>
            <a:xfrm>
              <a:off x="10311840" y="427680"/>
              <a:ext cx="1722600" cy="60948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44" name="Пятиугольник 4"/>
            <p:cNvSpPr/>
            <p:nvPr/>
          </p:nvSpPr>
          <p:spPr>
            <a:xfrm>
              <a:off x="0" y="484920"/>
              <a:ext cx="5387760" cy="552240"/>
            </a:xfrm>
            <a:prstGeom prst="homePlate">
              <a:avLst>
                <a:gd name="adj" fmla="val 50000"/>
              </a:avLst>
            </a:prstGeom>
            <a:solidFill>
              <a:srgbClr val="256569"/>
            </a:solidFill>
            <a:ln w="126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ru-RU" sz="1800" strike="noStrike" u="none">
                <a:solidFill>
                  <a:schemeClr val="lt1"/>
                </a:solidFill>
                <a:effectLst/>
                <a:uFillTx/>
                <a:latin typeface="Calibri"/>
                <a:ea typeface="DejaVu Sans"/>
              </a:endParaRPr>
            </a:p>
          </p:txBody>
        </p:sp>
        <p:sp>
          <p:nvSpPr>
            <p:cNvPr id="45" name="TextBox 14"/>
            <p:cNvSpPr/>
            <p:nvPr/>
          </p:nvSpPr>
          <p:spPr>
            <a:xfrm>
              <a:off x="141120" y="588960"/>
              <a:ext cx="4805640" cy="363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spAutoFit/>
            </a:bodyPr>
            <a:p>
              <a:pPr defTabSz="457200">
                <a:lnSpc>
                  <a:spcPct val="100000"/>
                </a:lnSpc>
              </a:pPr>
              <a:r>
                <a:rPr b="1" lang="ru-RU" sz="1800" strike="noStrike" u="none">
                  <a:solidFill>
                    <a:schemeClr val="lt1"/>
                  </a:solidFill>
                  <a:effectLst/>
                  <a:uFillTx/>
                  <a:latin typeface="Book Antiqua"/>
                  <a:ea typeface="DejaVu Sans"/>
                </a:rPr>
                <a:t>Результаты решения частной задачи № 1</a:t>
              </a:r>
              <a:endPara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46" name=""/>
          <p:cNvSpPr/>
          <p:nvPr/>
        </p:nvSpPr>
        <p:spPr>
          <a:xfrm>
            <a:off x="7560000" y="1562040"/>
            <a:ext cx="4678920" cy="106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Symbol" charset="2"/>
              <a:buChar char=""/>
            </a:pPr>
            <a:r>
              <a:rPr b="0" lang="ru-RU" sz="1600" strike="noStrike" u="none">
                <a:solidFill>
                  <a:schemeClr val="dk1">
                    <a:lumMod val="65000"/>
                    <a:lumOff val="35000"/>
                  </a:schemeClr>
                </a:solidFill>
                <a:effectLst/>
                <a:uFillTx/>
                <a:latin typeface="Book Antiqua"/>
                <a:ea typeface="DejaVu Sans"/>
              </a:rPr>
              <a:t>Каждый из представленных подходов по отдельности имеет недостатки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Symbol" charset="2"/>
              <a:buChar char=""/>
            </a:pPr>
            <a:r>
              <a:rPr b="0" lang="ru-RU" sz="1600" strike="noStrike" u="none">
                <a:solidFill>
                  <a:schemeClr val="dk1">
                    <a:lumMod val="65000"/>
                    <a:lumOff val="35000"/>
                  </a:schemeClr>
                </a:solidFill>
                <a:effectLst/>
                <a:uFillTx/>
                <a:latin typeface="Book Antiqua"/>
                <a:ea typeface="DejaVu Sans"/>
              </a:rPr>
              <a:t>Комбинация групп методов различной природы позволяет перекрывать недостатки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"/>
          <p:cNvSpPr/>
          <p:nvPr/>
        </p:nvSpPr>
        <p:spPr>
          <a:xfrm>
            <a:off x="180000" y="6300000"/>
            <a:ext cx="5578920" cy="30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8" name="TextBox 5"/>
          <p:cNvSpPr/>
          <p:nvPr/>
        </p:nvSpPr>
        <p:spPr>
          <a:xfrm>
            <a:off x="1665720" y="541800"/>
            <a:ext cx="48628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ru-RU" sz="1800" strike="noStrike" u="none">
                <a:solidFill>
                  <a:schemeClr val="lt1"/>
                </a:solidFill>
                <a:effectLst/>
                <a:uFillTx/>
                <a:latin typeface="Book Antiqua"/>
                <a:ea typeface="DejaVu Sans"/>
              </a:rPr>
              <a:t>Результаты решения частной задачи № 2 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TextBox 6"/>
          <p:cNvSpPr/>
          <p:nvPr/>
        </p:nvSpPr>
        <p:spPr>
          <a:xfrm>
            <a:off x="399600" y="1800000"/>
            <a:ext cx="6439320" cy="146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343080" indent="-343080" defTabSz="457200">
              <a:lnSpc>
                <a:spcPct val="100000"/>
              </a:lnSpc>
              <a:buClr>
                <a:srgbClr val="595959"/>
              </a:buClr>
              <a:buFont typeface="Arial"/>
              <a:buChar char="•"/>
            </a:pPr>
            <a:r>
              <a:rPr b="0" lang="ru-RU" sz="1800" strike="noStrike" u="none">
                <a:solidFill>
                  <a:schemeClr val="dk1">
                    <a:lumMod val="65000"/>
                    <a:lumOff val="35000"/>
                  </a:schemeClr>
                </a:solidFill>
                <a:effectLst/>
                <a:uFillTx/>
                <a:latin typeface="Book Antiqua"/>
                <a:ea typeface="DejaVu Sans"/>
              </a:rPr>
              <a:t>Проведен анализ существующих подходов к обеспечению безопасности Wi-Fi сетей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buClr>
                <a:srgbClr val="595959"/>
              </a:buClr>
              <a:buFont typeface="Arial"/>
              <a:buChar char="•"/>
            </a:pPr>
            <a:r>
              <a:rPr b="0" lang="ru-RU" sz="1800" strike="noStrike" u="none">
                <a:solidFill>
                  <a:schemeClr val="dk1">
                    <a:lumMod val="65000"/>
                    <a:lumOff val="35000"/>
                  </a:schemeClr>
                </a:solidFill>
                <a:effectLst/>
                <a:uFillTx/>
                <a:latin typeface="Book Antiqua"/>
                <a:ea typeface="DejaVu Sans"/>
              </a:rPr>
              <a:t>Выявлена невозможность обеспечивать постоянный радиомониторинг беспроводной среды недорогими методами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TextBox 7"/>
          <p:cNvSpPr/>
          <p:nvPr/>
        </p:nvSpPr>
        <p:spPr>
          <a:xfrm>
            <a:off x="1440000" y="1105560"/>
            <a:ext cx="89031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ru-RU" sz="1800" strike="noStrike" u="sng">
                <a:solidFill>
                  <a:schemeClr val="accent3">
                    <a:lumMod val="50000"/>
                  </a:schemeClr>
                </a:solidFill>
                <a:effectLst/>
                <a:uFillTx/>
                <a:latin typeface="Book Antiqua"/>
                <a:ea typeface="DejaVu Sans"/>
              </a:rPr>
              <a:t>Провести анализ существующих подходов к обеспечению безопасности Wi-Fi сетей в кредитно-финансовых организациях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TextBox 14"/>
          <p:cNvSpPr/>
          <p:nvPr/>
        </p:nvSpPr>
        <p:spPr>
          <a:xfrm>
            <a:off x="360000" y="3656880"/>
            <a:ext cx="431964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ru-RU" sz="1400" strike="noStrike" u="none">
                <a:solidFill>
                  <a:srgbClr val="535353"/>
                </a:solidFill>
                <a:effectLst/>
                <a:uFillTx/>
                <a:latin typeface="Book Antiqua"/>
                <a:ea typeface="Times New Roman"/>
              </a:rPr>
              <a:t>Таблица 2 – Сравнение существующих решений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52" name="Таблица 15"/>
          <p:cNvGraphicFramePr/>
          <p:nvPr/>
        </p:nvGraphicFramePr>
        <p:xfrm>
          <a:off x="188640" y="3939120"/>
          <a:ext cx="11817720" cy="2077920"/>
        </p:xfrm>
        <a:graphic>
          <a:graphicData uri="http://schemas.openxmlformats.org/drawingml/2006/table">
            <a:tbl>
              <a:tblPr/>
              <a:tblGrid>
                <a:gridCol w="2212200"/>
                <a:gridCol w="2246400"/>
                <a:gridCol w="3438000"/>
                <a:gridCol w="3921480"/>
              </a:tblGrid>
              <a:tr h="52164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1" lang="ru-RU" sz="1400" strike="noStrike" u="none">
                          <a:solidFill>
                            <a:schemeClr val="lt1"/>
                          </a:solidFill>
                          <a:effectLst/>
                          <a:uFillTx/>
                          <a:latin typeface="Book Antiqua"/>
                        </a:rPr>
                        <a:t>Решение</a:t>
                      </a:r>
                      <a:endParaRPr b="0" lang="ru-RU" sz="14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1" lang="ru-RU" sz="1400" strike="noStrike" u="none">
                          <a:solidFill>
                            <a:schemeClr val="lt1"/>
                          </a:solidFill>
                          <a:effectLst/>
                          <a:uFillTx/>
                          <a:latin typeface="Book Antiqua"/>
                        </a:rPr>
                        <a:t>Стоимость</a:t>
                      </a:r>
                      <a:endParaRPr b="0" lang="ru-RU" sz="14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1" lang="ru-RU" sz="1400" strike="noStrike" u="none">
                          <a:solidFill>
                            <a:schemeClr val="lt1"/>
                          </a:solidFill>
                          <a:effectLst/>
                          <a:uFillTx/>
                          <a:latin typeface="Book Antiqua"/>
                        </a:rPr>
                        <a:t>Возможность постоянного мониторинга</a:t>
                      </a:r>
                      <a:endParaRPr b="0" lang="ru-RU" sz="14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1" lang="ru-RU" sz="1400" strike="noStrike" u="none">
                          <a:solidFill>
                            <a:schemeClr val="lt1"/>
                          </a:solidFill>
                          <a:effectLst/>
                          <a:uFillTx/>
                          <a:latin typeface="Book Antiqua"/>
                        </a:rPr>
                        <a:t>Возможность локализации</a:t>
                      </a:r>
                      <a:endParaRPr b="0" lang="ru-RU" sz="14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</a:tr>
              <a:tr h="3708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191"/>
                        </a:spcBef>
                        <a:spcAft>
                          <a:spcPts val="992"/>
                        </a:spcAft>
                      </a:pPr>
                      <a:r>
                        <a:rPr b="0" lang="ru-RU" sz="14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Book Antiqua"/>
                        </a:rPr>
                        <a:t>Промышленная WIDS (Eltex [2] и др.)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ru-RU" sz="14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Book Antiqua"/>
                        </a:rPr>
                        <a:t>Высокая, требуется проектирование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ru-RU" sz="14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Book Antiqua"/>
                        </a:rPr>
                        <a:t>Да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191"/>
                        </a:spcBef>
                        <a:spcAft>
                          <a:spcPts val="992"/>
                        </a:spcAft>
                      </a:pPr>
                      <a:r>
                        <a:rPr b="0" lang="ru-RU" sz="14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Book Antiqua"/>
                        </a:rPr>
                        <a:t>Ограниченно, ± 3-5 метров, первичное наведение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  <a:tr h="3708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191"/>
                        </a:spcBef>
                        <a:spcAft>
                          <a:spcPts val="992"/>
                        </a:spcAft>
                      </a:pPr>
                      <a:r>
                        <a:rPr b="0" lang="ru-RU" sz="14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Book Antiqua"/>
                        </a:rPr>
                        <a:t>Носимой детектор (ручной) [3]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ru-RU" sz="14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Book Antiqua"/>
                        </a:rPr>
                        <a:t>Низкая или средняя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ru-RU" sz="14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Book Antiqua"/>
                        </a:rPr>
                        <a:t>Нет (только обход)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ru-RU" sz="14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Book Antiqua"/>
                        </a:rPr>
                        <a:t>Да, ±1 метр, визуальный поиск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  <a:tr h="49644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ru-RU" sz="14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Book Antiqua"/>
                        </a:rPr>
                        <a:t>Проекты на основе АФАР [4]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ru-RU" sz="14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Book Antiqua"/>
                        </a:rPr>
                        <a:t>Очень высокая, штучное производство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ru-RU" sz="14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Book Antiqua"/>
                        </a:rPr>
                        <a:t>Ограничено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ru-RU" sz="14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Book Antiqua"/>
                        </a:rPr>
                        <a:t>Да, ±1-2 метра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</a:tbl>
          </a:graphicData>
        </a:graphic>
      </p:graphicFrame>
      <p:grpSp>
        <p:nvGrpSpPr>
          <p:cNvPr id="53" name="Группа 10"/>
          <p:cNvGrpSpPr/>
          <p:nvPr/>
        </p:nvGrpSpPr>
        <p:grpSpPr>
          <a:xfrm>
            <a:off x="0" y="427680"/>
            <a:ext cx="12034440" cy="609480"/>
            <a:chOff x="0" y="427680"/>
            <a:chExt cx="12034440" cy="609480"/>
          </a:xfrm>
        </p:grpSpPr>
        <p:pic>
          <p:nvPicPr>
            <p:cNvPr id="54" name="Рисунок 11" descr=""/>
            <p:cNvPicPr/>
            <p:nvPr/>
          </p:nvPicPr>
          <p:blipFill>
            <a:blip r:embed="rId1"/>
            <a:srcRect l="0" t="23835" r="0" b="55754"/>
            <a:stretch/>
          </p:blipFill>
          <p:spPr>
            <a:xfrm>
              <a:off x="10311840" y="427680"/>
              <a:ext cx="1722600" cy="60948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55" name="Пятиугольник 4"/>
            <p:cNvSpPr/>
            <p:nvPr/>
          </p:nvSpPr>
          <p:spPr>
            <a:xfrm>
              <a:off x="0" y="484920"/>
              <a:ext cx="5387760" cy="552240"/>
            </a:xfrm>
            <a:prstGeom prst="homePlate">
              <a:avLst>
                <a:gd name="adj" fmla="val 50000"/>
              </a:avLst>
            </a:prstGeom>
            <a:solidFill>
              <a:srgbClr val="256569"/>
            </a:solidFill>
            <a:ln w="126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ru-RU" sz="1800" strike="noStrike" u="none">
                <a:solidFill>
                  <a:schemeClr val="lt1"/>
                </a:solidFill>
                <a:effectLst/>
                <a:uFillTx/>
                <a:latin typeface="Calibri"/>
                <a:ea typeface="DejaVu Sans"/>
              </a:endParaRPr>
            </a:p>
          </p:txBody>
        </p:sp>
        <p:sp>
          <p:nvSpPr>
            <p:cNvPr id="56" name="TextBox 13"/>
            <p:cNvSpPr/>
            <p:nvPr/>
          </p:nvSpPr>
          <p:spPr>
            <a:xfrm>
              <a:off x="141120" y="588960"/>
              <a:ext cx="4805640" cy="363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spAutoFit/>
            </a:bodyPr>
            <a:p>
              <a:pPr defTabSz="457200">
                <a:lnSpc>
                  <a:spcPct val="100000"/>
                </a:lnSpc>
              </a:pPr>
              <a:r>
                <a:rPr b="1" lang="ru-RU" sz="1800" strike="noStrike" u="none">
                  <a:solidFill>
                    <a:schemeClr val="lt1"/>
                  </a:solidFill>
                  <a:effectLst/>
                  <a:uFillTx/>
                  <a:latin typeface="Book Antiqua"/>
                  <a:ea typeface="DejaVu Sans"/>
                </a:rPr>
                <a:t>Результаты решения частной задачи № 2</a:t>
              </a:r>
              <a:endPara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57" name=""/>
          <p:cNvSpPr/>
          <p:nvPr/>
        </p:nvSpPr>
        <p:spPr>
          <a:xfrm>
            <a:off x="6690960" y="1855080"/>
            <a:ext cx="5367960" cy="200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Symbol" charset="2"/>
              <a:buChar char=""/>
            </a:pPr>
            <a:r>
              <a:rPr b="0" lang="ru-RU" sz="1800" strike="noStrike" u="none">
                <a:solidFill>
                  <a:schemeClr val="dk1">
                    <a:lumMod val="65000"/>
                    <a:lumOff val="35000"/>
                  </a:schemeClr>
                </a:solidFill>
                <a:effectLst/>
                <a:uFillTx/>
                <a:latin typeface="Book Antiqua"/>
                <a:ea typeface="DejaVu Sans"/>
              </a:rPr>
              <a:t>Предлагаемое решение — промежуточный вариант между промышленной WIDS и носимым детектором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Symbol" charset="2"/>
              <a:buChar char=""/>
            </a:pPr>
            <a:r>
              <a:rPr b="0" lang="ru-RU" sz="1800" strike="noStrike" u="none">
                <a:solidFill>
                  <a:schemeClr val="dk1">
                    <a:lumMod val="65000"/>
                    <a:lumOff val="35000"/>
                  </a:schemeClr>
                </a:solidFill>
                <a:effectLst/>
                <a:uFillTx/>
                <a:latin typeface="Book Antiqua"/>
                <a:ea typeface="DejaVu Sans"/>
              </a:rPr>
              <a:t>Обеспечивает постоянный мониторинг и обнаружение, а также осуществляет первичное наведение оператора на положение источника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"/>
          <p:cNvSpPr/>
          <p:nvPr/>
        </p:nvSpPr>
        <p:spPr>
          <a:xfrm>
            <a:off x="-19080" y="6120000"/>
            <a:ext cx="12258720" cy="76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ru-RU" sz="1100" strike="noStrike" u="none">
                <a:solidFill>
                  <a:srgbClr val="535353"/>
                </a:solidFill>
                <a:effectLst/>
                <a:uFillTx/>
                <a:latin typeface="Book Antiqua"/>
              </a:rPr>
              <a:t>[2]  WIDS/WIPS-SW Элтекс (контроллер SoftWLC) – сервис обнаружения и предотвращения вторжений в беспроводную сеть // Eltex Solutions. – URL: https://eltexsl.ru/product/wids-wips-sw/ (дата обращения: 02.12.2025).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ru-RU" sz="1100" strike="noStrike" u="none">
                <a:solidFill>
                  <a:srgbClr val="535353"/>
                </a:solidFill>
                <a:effectLst/>
                <a:uFillTx/>
                <a:latin typeface="Book Antiqua"/>
              </a:rPr>
              <a:t>[3] ST-186 WiFi Search Analyzer — URL: </a:t>
            </a:r>
            <a:r>
              <a:rPr b="0" lang="ru-RU" sz="1100" strike="noStrike" u="none">
                <a:solidFill>
                  <a:srgbClr val="0563c1"/>
                </a:solidFill>
                <a:effectLst/>
                <a:uFillTx/>
                <a:latin typeface="Book Antiqua"/>
                <a:hlinkClick r:id="rId2"/>
              </a:rPr>
              <a:t>https://signal-t.ru/eng/catalog/wifi-search-analyzer-/st186/</a:t>
            </a:r>
            <a:r>
              <a:rPr b="0" lang="ru-RU" sz="1100" strike="noStrike" u="none">
                <a:solidFill>
                  <a:srgbClr val="535353"/>
                </a:solidFill>
                <a:effectLst/>
                <a:uFillTx/>
                <a:latin typeface="Book Antiqua"/>
              </a:rPr>
              <a:t> (дата обращения 01.03.2026)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ru-RU" sz="1100" strike="noStrike" u="none">
                <a:solidFill>
                  <a:srgbClr val="535353"/>
                </a:solidFill>
                <a:effectLst/>
                <a:uFillTx/>
                <a:latin typeface="Book Antiqua"/>
              </a:rPr>
              <a:t>[4] ESPARGOS: ESP32-based WiFi sensing array. – URL: https://espargos.net (дата обращения: 20.04.2026).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TextBox 19"/>
          <p:cNvSpPr/>
          <p:nvPr/>
        </p:nvSpPr>
        <p:spPr>
          <a:xfrm>
            <a:off x="180360" y="953640"/>
            <a:ext cx="11158920" cy="91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ru-RU" sz="1800" strike="noStrike" u="sng">
                <a:solidFill>
                  <a:schemeClr val="accent3">
                    <a:lumMod val="50000"/>
                  </a:schemeClr>
                </a:solidFill>
                <a:effectLst/>
                <a:uFillTx/>
                <a:latin typeface="Book Antiqua"/>
                <a:ea typeface="DejaVu Sans"/>
              </a:rPr>
              <a:t>Разработать мультимодальную модель обнаружения незарегистрированных Wi-Fi точек доступа в кредитно-финансовых организациях и сформировать требования к программно-аппаратному комплексу, ее реализующему.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0" name="Группа 2"/>
          <p:cNvGrpSpPr/>
          <p:nvPr/>
        </p:nvGrpSpPr>
        <p:grpSpPr>
          <a:xfrm>
            <a:off x="0" y="427680"/>
            <a:ext cx="12034440" cy="609480"/>
            <a:chOff x="0" y="427680"/>
            <a:chExt cx="12034440" cy="609480"/>
          </a:xfrm>
        </p:grpSpPr>
        <p:pic>
          <p:nvPicPr>
            <p:cNvPr id="61" name="Рисунок 1" descr=""/>
            <p:cNvPicPr/>
            <p:nvPr/>
          </p:nvPicPr>
          <p:blipFill>
            <a:blip r:embed="rId1"/>
            <a:srcRect l="0" t="23835" r="0" b="55754"/>
            <a:stretch/>
          </p:blipFill>
          <p:spPr>
            <a:xfrm>
              <a:off x="10311840" y="427680"/>
              <a:ext cx="1722600" cy="60948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62" name="Пятиугольник 1"/>
            <p:cNvSpPr/>
            <p:nvPr/>
          </p:nvSpPr>
          <p:spPr>
            <a:xfrm>
              <a:off x="0" y="484920"/>
              <a:ext cx="5387760" cy="552240"/>
            </a:xfrm>
            <a:prstGeom prst="homePlate">
              <a:avLst>
                <a:gd name="adj" fmla="val 50000"/>
              </a:avLst>
            </a:prstGeom>
            <a:solidFill>
              <a:srgbClr val="256569"/>
            </a:solidFill>
            <a:ln w="126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ru-RU" sz="1800" strike="noStrike" u="none">
                <a:solidFill>
                  <a:schemeClr val="lt1"/>
                </a:solidFill>
                <a:effectLst/>
                <a:uFillTx/>
                <a:latin typeface="Calibri"/>
                <a:ea typeface="DejaVu Sans"/>
              </a:endParaRPr>
            </a:p>
          </p:txBody>
        </p:sp>
        <p:sp>
          <p:nvSpPr>
            <p:cNvPr id="63" name="TextBox 20"/>
            <p:cNvSpPr/>
            <p:nvPr/>
          </p:nvSpPr>
          <p:spPr>
            <a:xfrm>
              <a:off x="141120" y="588960"/>
              <a:ext cx="4805640" cy="363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spAutoFit/>
            </a:bodyPr>
            <a:p>
              <a:pPr defTabSz="457200">
                <a:lnSpc>
                  <a:spcPct val="100000"/>
                </a:lnSpc>
              </a:pPr>
              <a:r>
                <a:rPr b="1" lang="ru-RU" sz="1800" strike="noStrike" u="none">
                  <a:solidFill>
                    <a:schemeClr val="lt1"/>
                  </a:solidFill>
                  <a:effectLst/>
                  <a:uFillTx/>
                  <a:latin typeface="Book Antiqua"/>
                  <a:ea typeface="DejaVu Sans"/>
                </a:rPr>
                <a:t>Результаты решения частной задачи № 3</a:t>
              </a:r>
              <a:endPara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4" name="TextBox 21"/>
          <p:cNvSpPr/>
          <p:nvPr/>
        </p:nvSpPr>
        <p:spPr>
          <a:xfrm>
            <a:off x="6840000" y="1980720"/>
            <a:ext cx="5351040" cy="447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defTabSz="457200">
              <a:lnSpc>
                <a:spcPct val="100000"/>
              </a:lnSpc>
              <a:buClr>
                <a:srgbClr val="595959"/>
              </a:buClr>
              <a:buFont typeface="Arial"/>
              <a:buChar char="•"/>
            </a:pPr>
            <a:r>
              <a:rPr b="0" lang="ru-RU" sz="1800" strike="noStrike" u="none">
                <a:solidFill>
                  <a:schemeClr val="dk1">
                    <a:lumMod val="65000"/>
                    <a:lumOff val="35000"/>
                  </a:schemeClr>
                </a:solidFill>
                <a:effectLst/>
                <a:uFillTx/>
                <a:latin typeface="Book Antiqua"/>
                <a:ea typeface="DejaVu Sans"/>
              </a:rPr>
              <a:t> Разработана модель обнаружения на основании идентификационных признаков и физических параметров сигнала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buClr>
                <a:srgbClr val="595959"/>
              </a:buClr>
              <a:buFont typeface="Arial"/>
              <a:buChar char="•"/>
            </a:pPr>
            <a:r>
              <a:rPr b="0" lang="ru-RU" sz="1800" strike="noStrike" u="none">
                <a:solidFill>
                  <a:schemeClr val="dk1">
                    <a:lumMod val="65000"/>
                    <a:lumOff val="35000"/>
                  </a:schemeClr>
                </a:solidFill>
                <a:effectLst/>
                <a:uFillTx/>
                <a:latin typeface="Book Antiqua"/>
                <a:ea typeface="DejaVu Sans"/>
              </a:rPr>
              <a:t>Разработан ПАК, реализующий разработанную модель на базе ESP32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buClr>
                <a:srgbClr val="595959"/>
              </a:buClr>
              <a:buFont typeface="Arial"/>
              <a:buChar char="•"/>
            </a:pPr>
            <a:r>
              <a:rPr b="0" lang="ru-RU" sz="1800" strike="noStrike" u="none">
                <a:solidFill>
                  <a:schemeClr val="dk1">
                    <a:lumMod val="65000"/>
                    <a:lumOff val="35000"/>
                  </a:schemeClr>
                </a:solidFill>
                <a:effectLst/>
                <a:uFillTx/>
                <a:latin typeface="Book Antiqua"/>
                <a:ea typeface="DejaVu Sans"/>
              </a:rPr>
              <a:t>Разработан алгоритм сканирования каналов — необходимость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ru-RU" sz="1800" strike="noStrike" u="none">
                <a:solidFill>
                  <a:schemeClr val="dk1">
                    <a:lumMod val="65000"/>
                    <a:lumOff val="35000"/>
                  </a:schemeClr>
                </a:solidFill>
                <a:effectLst/>
                <a:uFillTx/>
                <a:latin typeface="Book Antiqua"/>
                <a:ea typeface="DejaVu Sans"/>
              </a:rPr>
              <a:t>Используются следующие группы признаков: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4572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chemeClr val="dk1">
                    <a:lumMod val="65000"/>
                    <a:lumOff val="35000"/>
                  </a:schemeClr>
                </a:solidFill>
                <a:effectLst/>
                <a:uFillTx/>
                <a:latin typeface="Book Antiqua"/>
                <a:ea typeface="DejaVu Sans"/>
              </a:rPr>
              <a:t>Логические — SSID и MAC-адреса — cобираются в пределах окна длиной T_base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4572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chemeClr val="dk1">
                    <a:lumMod val="65000"/>
                    <a:lumOff val="35000"/>
                  </a:schemeClr>
                </a:solidFill>
                <a:effectLst/>
                <a:uFillTx/>
                <a:latin typeface="Book Antiqua"/>
                <a:ea typeface="DejaVu Sans"/>
              </a:rPr>
              <a:t>Физические — RSSI и CSI — собираются дольше (в рамках большего окна T_agg)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ru-RU" sz="1800" strike="noStrike" u="none">
                <a:solidFill>
                  <a:schemeClr val="dk1">
                    <a:lumMod val="65000"/>
                    <a:lumOff val="35000"/>
                  </a:schemeClr>
                </a:solidFill>
                <a:effectLst/>
                <a:uFillTx/>
                <a:latin typeface="Book Antiqua"/>
                <a:ea typeface="DejaVu Sans"/>
              </a:rPr>
              <a:t>Функционал: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4572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chemeClr val="dk1">
                    <a:lumMod val="65000"/>
                    <a:lumOff val="35000"/>
                  </a:schemeClr>
                </a:solidFill>
                <a:effectLst/>
                <a:uFillTx/>
                <a:latin typeface="Book Antiqua"/>
                <a:ea typeface="DejaVu Sans"/>
              </a:rPr>
              <a:t>Обнаружение неразрешенных SSID и BSSID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4572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chemeClr val="dk1">
                    <a:lumMod val="65000"/>
                    <a:lumOff val="35000"/>
                  </a:schemeClr>
                </a:solidFill>
                <a:effectLst/>
                <a:uFillTx/>
                <a:latin typeface="Book Antiqua"/>
                <a:ea typeface="DejaVu Sans"/>
              </a:rPr>
              <a:t>Обнаружение фальсификации MAC-адресов — используются две метрики для сравнения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5" name="" descr=""/>
          <p:cNvPicPr/>
          <p:nvPr/>
        </p:nvPicPr>
        <p:blipFill>
          <a:blip r:embed="rId2"/>
          <a:stretch/>
        </p:blipFill>
        <p:spPr>
          <a:xfrm>
            <a:off x="0" y="1980720"/>
            <a:ext cx="6880680" cy="4142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6" name=""/>
          <p:cNvSpPr/>
          <p:nvPr/>
        </p:nvSpPr>
        <p:spPr>
          <a:xfrm>
            <a:off x="350280" y="6354360"/>
            <a:ext cx="6129000" cy="30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ru-RU" sz="1400" strike="noStrike" u="none">
                <a:solidFill>
                  <a:srgbClr val="535353"/>
                </a:solidFill>
                <a:effectLst/>
                <a:uFillTx/>
                <a:latin typeface="Book Antiqua"/>
                <a:ea typeface="Times New Roman"/>
              </a:rPr>
              <a:t>Рисунок  2 – Схема работы конвейера обработки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TextBox 1"/>
          <p:cNvSpPr/>
          <p:nvPr/>
        </p:nvSpPr>
        <p:spPr>
          <a:xfrm>
            <a:off x="360000" y="952920"/>
            <a:ext cx="111589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ru-RU" sz="1800" strike="noStrike" u="sng">
                <a:solidFill>
                  <a:schemeClr val="accent3">
                    <a:lumMod val="50000"/>
                  </a:schemeClr>
                </a:solidFill>
                <a:effectLst/>
                <a:uFillTx/>
                <a:latin typeface="Book Antiqua"/>
                <a:ea typeface="DejaVu Sans"/>
              </a:rPr>
              <a:t>Разработать практические рекомендации по применению разработанных решений и провести оценку их эффективности.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8" name="Группа 3"/>
          <p:cNvGrpSpPr/>
          <p:nvPr/>
        </p:nvGrpSpPr>
        <p:grpSpPr>
          <a:xfrm>
            <a:off x="0" y="427680"/>
            <a:ext cx="12034440" cy="609480"/>
            <a:chOff x="0" y="427680"/>
            <a:chExt cx="12034440" cy="609480"/>
          </a:xfrm>
        </p:grpSpPr>
        <p:pic>
          <p:nvPicPr>
            <p:cNvPr id="69" name="Рисунок 2" descr=""/>
            <p:cNvPicPr/>
            <p:nvPr/>
          </p:nvPicPr>
          <p:blipFill>
            <a:blip r:embed="rId1"/>
            <a:srcRect l="0" t="23835" r="0" b="55754"/>
            <a:stretch/>
          </p:blipFill>
          <p:spPr>
            <a:xfrm>
              <a:off x="10311840" y="427680"/>
              <a:ext cx="1722600" cy="60948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70" name="Пятиугольник 2"/>
            <p:cNvSpPr/>
            <p:nvPr/>
          </p:nvSpPr>
          <p:spPr>
            <a:xfrm>
              <a:off x="0" y="484920"/>
              <a:ext cx="5387760" cy="552240"/>
            </a:xfrm>
            <a:prstGeom prst="homePlate">
              <a:avLst>
                <a:gd name="adj" fmla="val 50000"/>
              </a:avLst>
            </a:prstGeom>
            <a:solidFill>
              <a:srgbClr val="256569"/>
            </a:solidFill>
            <a:ln w="126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ru-RU" sz="1800" strike="noStrike" u="none">
                <a:solidFill>
                  <a:schemeClr val="lt1"/>
                </a:solidFill>
                <a:effectLst/>
                <a:uFillTx/>
                <a:latin typeface="Calibri"/>
                <a:ea typeface="DejaVu Sans"/>
              </a:endParaRPr>
            </a:p>
          </p:txBody>
        </p:sp>
        <p:sp>
          <p:nvSpPr>
            <p:cNvPr id="71" name="TextBox 3"/>
            <p:cNvSpPr/>
            <p:nvPr/>
          </p:nvSpPr>
          <p:spPr>
            <a:xfrm>
              <a:off x="141120" y="588960"/>
              <a:ext cx="4805640" cy="363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spAutoFit/>
            </a:bodyPr>
            <a:p>
              <a:pPr defTabSz="457200">
                <a:lnSpc>
                  <a:spcPct val="100000"/>
                </a:lnSpc>
              </a:pPr>
              <a:r>
                <a:rPr b="1" lang="ru-RU" sz="1800" strike="noStrike" u="none">
                  <a:solidFill>
                    <a:schemeClr val="lt1"/>
                  </a:solidFill>
                  <a:effectLst/>
                  <a:uFillTx/>
                  <a:latin typeface="Book Antiqua"/>
                  <a:ea typeface="DejaVu Sans"/>
                </a:rPr>
                <a:t>Результаты решения частной задачи № 4</a:t>
              </a:r>
              <a:endPara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aphicFrame>
        <p:nvGraphicFramePr>
          <p:cNvPr id="72" name="Таблица 1"/>
          <p:cNvGraphicFramePr/>
          <p:nvPr/>
        </p:nvGraphicFramePr>
        <p:xfrm>
          <a:off x="136800" y="5195880"/>
          <a:ext cx="11817720" cy="1559160"/>
        </p:xfrm>
        <a:graphic>
          <a:graphicData uri="http://schemas.openxmlformats.org/drawingml/2006/table">
            <a:tbl>
              <a:tblPr/>
              <a:tblGrid>
                <a:gridCol w="2212200"/>
                <a:gridCol w="2662920"/>
                <a:gridCol w="2320920"/>
                <a:gridCol w="4622040"/>
              </a:tblGrid>
              <a:tr h="52164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1" lang="ru-RU" sz="1400" strike="noStrike" u="none">
                          <a:solidFill>
                            <a:schemeClr val="lt1"/>
                          </a:solidFill>
                          <a:effectLst/>
                          <a:uFillTx/>
                          <a:latin typeface="Book Antiqua"/>
                        </a:rPr>
                        <a:t>Окно</a:t>
                      </a:r>
                      <a:endParaRPr b="0" lang="ru-RU" sz="14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1" lang="ru-RU" sz="1400" strike="noStrike" u="none">
                          <a:solidFill>
                            <a:schemeClr val="lt1"/>
                          </a:solidFill>
                          <a:effectLst/>
                          <a:uFillTx/>
                          <a:latin typeface="Book Antiqua"/>
                        </a:rPr>
                        <a:t>Применение</a:t>
                      </a:r>
                      <a:endParaRPr b="0" lang="ru-RU" sz="14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1" lang="ru-RU" sz="1400" strike="noStrike" u="none">
                          <a:solidFill>
                            <a:schemeClr val="lt1"/>
                          </a:solidFill>
                          <a:effectLst/>
                          <a:uFillTx/>
                          <a:latin typeface="Book Antiqua"/>
                        </a:rPr>
                        <a:t>Рекомендуемый размер</a:t>
                      </a:r>
                      <a:endParaRPr b="0" lang="ru-RU" sz="14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1" lang="ru-RU" sz="1400" strike="noStrike" u="none">
                          <a:solidFill>
                            <a:schemeClr val="lt1"/>
                          </a:solidFill>
                          <a:effectLst/>
                          <a:uFillTx/>
                          <a:latin typeface="Book Antiqua"/>
                        </a:rPr>
                        <a:t>Рекомендации по выбору</a:t>
                      </a:r>
                      <a:endParaRPr b="0" lang="ru-RU" sz="14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</a:tr>
              <a:tr h="3708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191"/>
                        </a:spcBef>
                        <a:spcAft>
                          <a:spcPts val="992"/>
                        </a:spcAft>
                      </a:pPr>
                      <a:r>
                        <a:rPr b="0" lang="ru-RU" sz="14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Book Antiqua"/>
                        </a:rPr>
                        <a:t>Базовое T_base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ru-RU" sz="14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Book Antiqua"/>
                        </a:rPr>
                        <a:t>Анализ идентификаторов, выявление сетей и устройств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ru-RU" sz="14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Book Antiqua"/>
                        </a:rPr>
                        <a:t>1 минута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191"/>
                        </a:spcBef>
                        <a:spcAft>
                          <a:spcPts val="992"/>
                        </a:spcAft>
                      </a:pPr>
                      <a:r>
                        <a:rPr b="0" lang="ru-RU" sz="14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Book Antiqua"/>
                        </a:rPr>
                        <a:t>Несколько циклов приема-передачи от сенсоров, минимальная задержка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  <a:tr h="3708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191"/>
                        </a:spcBef>
                        <a:spcAft>
                          <a:spcPts val="992"/>
                        </a:spcAft>
                      </a:pPr>
                      <a:r>
                        <a:rPr b="0" lang="ru-RU" sz="14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Book Antiqua"/>
                        </a:rPr>
                        <a:t>Укрупненное T_agg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4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Book Antiqua"/>
                        </a:rPr>
                        <a:t>Анализ структуры сигнала, локализация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ru-RU" sz="14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Book Antiqua"/>
                        </a:rPr>
                        <a:t>5 минут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4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Book Antiqua"/>
                        </a:rPr>
                        <a:t>Накопление достаточного количества кадров с CSI данными для обеспечения необходимой точности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</a:tbl>
          </a:graphicData>
        </a:graphic>
      </p:graphicFrame>
      <p:sp>
        <p:nvSpPr>
          <p:cNvPr id="73" name=""/>
          <p:cNvSpPr/>
          <p:nvPr/>
        </p:nvSpPr>
        <p:spPr>
          <a:xfrm>
            <a:off x="3240000" y="5040000"/>
            <a:ext cx="358920" cy="17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4" name=""/>
          <p:cNvSpPr/>
          <p:nvPr/>
        </p:nvSpPr>
        <p:spPr>
          <a:xfrm>
            <a:off x="136800" y="4860000"/>
            <a:ext cx="42580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ru-RU" sz="1400" strike="noStrike" u="none">
                <a:solidFill>
                  <a:srgbClr val="535353"/>
                </a:solidFill>
                <a:effectLst/>
                <a:uFillTx/>
                <a:latin typeface="Book Antiqua"/>
                <a:ea typeface="Times New Roman"/>
              </a:rPr>
              <a:t>Таблица 5 – Выбор размера окон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75" name="Таблица 2"/>
          <p:cNvGraphicFramePr/>
          <p:nvPr/>
        </p:nvGraphicFramePr>
        <p:xfrm>
          <a:off x="3138480" y="3596760"/>
          <a:ext cx="8857800" cy="1564920"/>
        </p:xfrm>
        <a:graphic>
          <a:graphicData uri="http://schemas.openxmlformats.org/drawingml/2006/table">
            <a:tbl>
              <a:tblPr/>
              <a:tblGrid>
                <a:gridCol w="2183040"/>
                <a:gridCol w="523800"/>
                <a:gridCol w="521640"/>
                <a:gridCol w="504000"/>
                <a:gridCol w="512640"/>
                <a:gridCol w="512640"/>
                <a:gridCol w="512640"/>
                <a:gridCol w="512640"/>
                <a:gridCol w="512640"/>
                <a:gridCol w="512640"/>
                <a:gridCol w="512640"/>
                <a:gridCol w="512640"/>
                <a:gridCol w="512640"/>
                <a:gridCol w="511920"/>
              </a:tblGrid>
              <a:tr h="52164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1" lang="ru-RU" sz="1400" strike="noStrike" u="none">
                          <a:solidFill>
                            <a:schemeClr val="lt1"/>
                          </a:solidFill>
                          <a:effectLst/>
                          <a:uFillTx/>
                          <a:latin typeface="Book Antiqua"/>
                        </a:rPr>
                        <a:t>Профиль</a:t>
                      </a:r>
                      <a:endParaRPr b="0" lang="ru-RU" sz="14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ru-RU" sz="1400" strike="noStrike" u="none">
                          <a:solidFill>
                            <a:schemeClr val="lt1"/>
                          </a:solidFill>
                          <a:effectLst/>
                          <a:uFillTx/>
                          <a:latin typeface="Book Antiqua"/>
                        </a:rPr>
                        <a:t>w1</a:t>
                      </a:r>
                      <a:endParaRPr b="0" lang="ru-RU" sz="14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ru-RU" sz="1400" strike="noStrike" u="none">
                          <a:solidFill>
                            <a:schemeClr val="lt1"/>
                          </a:solidFill>
                          <a:effectLst/>
                          <a:uFillTx/>
                          <a:latin typeface="Book Antiqua"/>
                        </a:rPr>
                        <a:t>w2</a:t>
                      </a:r>
                      <a:endParaRPr b="0" lang="ru-RU" sz="14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ru-RU" sz="1400" strike="noStrike" u="none">
                          <a:solidFill>
                            <a:schemeClr val="lt1"/>
                          </a:solidFill>
                          <a:effectLst/>
                          <a:uFillTx/>
                          <a:latin typeface="Book Antiqua"/>
                        </a:rPr>
                        <a:t>w3</a:t>
                      </a:r>
                      <a:endParaRPr b="0" lang="ru-RU" sz="14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ru-RU" sz="1400" strike="noStrike" u="none">
                          <a:solidFill>
                            <a:schemeClr val="lt1"/>
                          </a:solidFill>
                          <a:effectLst/>
                          <a:uFillTx/>
                          <a:latin typeface="Book Antiqua"/>
                        </a:rPr>
                        <a:t>w4</a:t>
                      </a:r>
                      <a:endParaRPr b="0" lang="ru-RU" sz="14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ru-RU" sz="1400" strike="noStrike" u="none">
                          <a:solidFill>
                            <a:schemeClr val="lt1"/>
                          </a:solidFill>
                          <a:effectLst/>
                          <a:uFillTx/>
                          <a:latin typeface="Book Antiqua"/>
                        </a:rPr>
                        <a:t>w5</a:t>
                      </a:r>
                      <a:endParaRPr b="0" lang="ru-RU" sz="14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ru-RU" sz="1400" strike="noStrike" u="none">
                          <a:solidFill>
                            <a:schemeClr val="lt1"/>
                          </a:solidFill>
                          <a:effectLst/>
                          <a:uFillTx/>
                          <a:latin typeface="Book Antiqua"/>
                        </a:rPr>
                        <a:t>w6</a:t>
                      </a:r>
                      <a:endParaRPr b="0" lang="ru-RU" sz="14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ru-RU" sz="1400" strike="noStrike" u="none">
                          <a:solidFill>
                            <a:schemeClr val="lt1"/>
                          </a:solidFill>
                          <a:effectLst/>
                          <a:uFillTx/>
                          <a:latin typeface="Book Antiqua"/>
                        </a:rPr>
                        <a:t>w7</a:t>
                      </a:r>
                      <a:endParaRPr b="0" lang="ru-RU" sz="14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ru-RU" sz="1400" strike="noStrike" u="none">
                          <a:solidFill>
                            <a:schemeClr val="lt1"/>
                          </a:solidFill>
                          <a:effectLst/>
                          <a:uFillTx/>
                          <a:latin typeface="Book Antiqua"/>
                        </a:rPr>
                        <a:t>w8</a:t>
                      </a:r>
                      <a:endParaRPr b="0" lang="ru-RU" sz="14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ru-RU" sz="1400" strike="noStrike" u="none">
                          <a:solidFill>
                            <a:schemeClr val="lt1"/>
                          </a:solidFill>
                          <a:effectLst/>
                          <a:uFillTx/>
                          <a:latin typeface="Book Antiqua"/>
                        </a:rPr>
                        <a:t>w9</a:t>
                      </a:r>
                      <a:endParaRPr b="0" lang="ru-RU" sz="14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ru-RU" sz="1400" strike="noStrike" u="none">
                          <a:solidFill>
                            <a:schemeClr val="lt1"/>
                          </a:solidFill>
                          <a:effectLst/>
                          <a:uFillTx/>
                          <a:latin typeface="Book Antiqua"/>
                        </a:rPr>
                        <a:t>w10</a:t>
                      </a:r>
                      <a:endParaRPr b="0" lang="ru-RU" sz="14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ru-RU" sz="1400" strike="noStrike" u="none">
                          <a:solidFill>
                            <a:schemeClr val="lt1"/>
                          </a:solidFill>
                          <a:effectLst/>
                          <a:uFillTx/>
                          <a:latin typeface="Book Antiqua"/>
                        </a:rPr>
                        <a:t>w11</a:t>
                      </a:r>
                      <a:endParaRPr b="0" lang="ru-RU" sz="14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ru-RU" sz="1400" strike="noStrike" u="none">
                          <a:solidFill>
                            <a:schemeClr val="lt1"/>
                          </a:solidFill>
                          <a:effectLst/>
                          <a:uFillTx/>
                          <a:latin typeface="Book Antiqua"/>
                        </a:rPr>
                        <a:t>w12</a:t>
                      </a:r>
                      <a:endParaRPr b="0" lang="ru-RU" sz="14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ru-RU" sz="1400" strike="noStrike" u="none">
                          <a:solidFill>
                            <a:schemeClr val="lt1"/>
                          </a:solidFill>
                          <a:effectLst/>
                          <a:uFillTx/>
                          <a:latin typeface="Book Antiqua"/>
                        </a:rPr>
                        <a:t>w13</a:t>
                      </a:r>
                      <a:endParaRPr b="0" lang="ru-RU" sz="14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</a:tr>
              <a:tr h="52128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191"/>
                        </a:spcBef>
                        <a:spcAft>
                          <a:spcPts val="992"/>
                        </a:spcAft>
                      </a:pPr>
                      <a:r>
                        <a:rPr b="0" lang="ru-RU" sz="14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Book Antiqua"/>
                        </a:rPr>
                        <a:t>Фокус на 6 канале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spcBef>
                          <a:spcPts val="1191"/>
                        </a:spcBef>
                        <a:spcAft>
                          <a:spcPts val="992"/>
                        </a:spcAft>
                      </a:pPr>
                      <a:r>
                        <a:rPr b="0" lang="ru-RU" sz="14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Book Antiqua"/>
                        </a:rPr>
                        <a:t>8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ru-RU" sz="14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Book Antiqua"/>
                        </a:rPr>
                        <a:t>4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ru-RU" sz="14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Book Antiqua"/>
                        </a:rPr>
                        <a:t>3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ru-RU" sz="14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Book Antiqua"/>
                        </a:rPr>
                        <a:t>3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spcBef>
                          <a:spcPts val="1191"/>
                        </a:spcBef>
                        <a:spcAft>
                          <a:spcPts val="992"/>
                        </a:spcAft>
                      </a:pPr>
                      <a:r>
                        <a:rPr b="0" lang="ru-RU" sz="14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Book Antiqua"/>
                        </a:rPr>
                        <a:t>10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spcBef>
                          <a:spcPts val="1191"/>
                        </a:spcBef>
                        <a:spcAft>
                          <a:spcPts val="992"/>
                        </a:spcAft>
                      </a:pPr>
                      <a:r>
                        <a:rPr b="0" lang="ru-RU" sz="14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Book Antiqua"/>
                        </a:rPr>
                        <a:t>24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spcBef>
                          <a:spcPts val="1191"/>
                        </a:spcBef>
                        <a:spcAft>
                          <a:spcPts val="992"/>
                        </a:spcAft>
                      </a:pPr>
                      <a:r>
                        <a:rPr b="0" lang="ru-RU" sz="14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Book Antiqua"/>
                        </a:rPr>
                        <a:t>10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spcBef>
                          <a:spcPts val="1191"/>
                        </a:spcBef>
                        <a:spcAft>
                          <a:spcPts val="992"/>
                        </a:spcAft>
                      </a:pPr>
                      <a:r>
                        <a:rPr b="0" lang="ru-RU" sz="14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Book Antiqua"/>
                        </a:rPr>
                        <a:t>3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spcBef>
                          <a:spcPts val="1191"/>
                        </a:spcBef>
                        <a:spcAft>
                          <a:spcPts val="992"/>
                        </a:spcAft>
                      </a:pPr>
                      <a:r>
                        <a:rPr b="0" lang="ru-RU" sz="14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Book Antiqua"/>
                        </a:rPr>
                        <a:t>3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spcBef>
                          <a:spcPts val="1191"/>
                        </a:spcBef>
                        <a:spcAft>
                          <a:spcPts val="992"/>
                        </a:spcAft>
                      </a:pPr>
                      <a:r>
                        <a:rPr b="0" lang="ru-RU" sz="14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Book Antiqua"/>
                        </a:rPr>
                        <a:t>4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spcBef>
                          <a:spcPts val="1191"/>
                        </a:spcBef>
                        <a:spcAft>
                          <a:spcPts val="992"/>
                        </a:spcAft>
                      </a:pPr>
                      <a:r>
                        <a:rPr b="0" lang="ru-RU" sz="14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Book Antiqua"/>
                        </a:rPr>
                        <a:t>8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spcBef>
                          <a:spcPts val="1191"/>
                        </a:spcBef>
                        <a:spcAft>
                          <a:spcPts val="992"/>
                        </a:spcAft>
                      </a:pPr>
                      <a:r>
                        <a:rPr b="0" lang="ru-RU" sz="14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Book Antiqua"/>
                        </a:rPr>
                        <a:t>2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spcBef>
                          <a:spcPts val="1191"/>
                        </a:spcBef>
                        <a:spcAft>
                          <a:spcPts val="992"/>
                        </a:spcAft>
                      </a:pPr>
                      <a:r>
                        <a:rPr b="0" lang="ru-RU" sz="14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Book Antiqua"/>
                        </a:rPr>
                        <a:t>2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  <a:tr h="5220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191"/>
                        </a:spcBef>
                        <a:spcAft>
                          <a:spcPts val="992"/>
                        </a:spcAft>
                      </a:pPr>
                      <a:r>
                        <a:rPr b="0" lang="ru-RU" sz="14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Book Antiqua"/>
                        </a:rPr>
                        <a:t>Сбалансированный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spcBef>
                          <a:spcPts val="1191"/>
                        </a:spcBef>
                        <a:spcAft>
                          <a:spcPts val="992"/>
                        </a:spcAft>
                      </a:pPr>
                      <a:r>
                        <a:rPr b="0" lang="ru-RU" sz="14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Book Antiqua"/>
                        </a:rPr>
                        <a:t>14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ru-RU" sz="14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Book Antiqua"/>
                        </a:rPr>
                        <a:t>6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ru-RU" sz="14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Book Antiqua"/>
                        </a:rPr>
                        <a:t>4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ru-RU" sz="14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Book Antiqua"/>
                        </a:rPr>
                        <a:t>3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spcBef>
                          <a:spcPts val="1191"/>
                        </a:spcBef>
                        <a:spcAft>
                          <a:spcPts val="992"/>
                        </a:spcAft>
                      </a:pPr>
                      <a:r>
                        <a:rPr b="0" lang="ru-RU" sz="14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Book Antiqua"/>
                        </a:rPr>
                        <a:t>6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spcBef>
                          <a:spcPts val="1191"/>
                        </a:spcBef>
                        <a:spcAft>
                          <a:spcPts val="992"/>
                        </a:spcAft>
                      </a:pPr>
                      <a:r>
                        <a:rPr b="0" lang="ru-RU" sz="14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Book Antiqua"/>
                        </a:rPr>
                        <a:t>14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spcBef>
                          <a:spcPts val="1191"/>
                        </a:spcBef>
                        <a:spcAft>
                          <a:spcPts val="992"/>
                        </a:spcAft>
                      </a:pPr>
                      <a:r>
                        <a:rPr b="0" lang="ru-RU" sz="14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Book Antiqua"/>
                        </a:rPr>
                        <a:t>6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spcBef>
                          <a:spcPts val="1191"/>
                        </a:spcBef>
                        <a:spcAft>
                          <a:spcPts val="992"/>
                        </a:spcAft>
                      </a:pPr>
                      <a:r>
                        <a:rPr b="0" lang="ru-RU" sz="14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Book Antiqua"/>
                        </a:rPr>
                        <a:t>3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spcBef>
                          <a:spcPts val="1191"/>
                        </a:spcBef>
                        <a:spcAft>
                          <a:spcPts val="992"/>
                        </a:spcAft>
                      </a:pPr>
                      <a:r>
                        <a:rPr b="0" lang="ru-RU" sz="14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Book Antiqua"/>
                        </a:rPr>
                        <a:t>4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spcBef>
                          <a:spcPts val="1191"/>
                        </a:spcBef>
                        <a:spcAft>
                          <a:spcPts val="992"/>
                        </a:spcAft>
                      </a:pPr>
                      <a:r>
                        <a:rPr b="0" lang="ru-RU" sz="14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Book Antiqua"/>
                        </a:rPr>
                        <a:t>6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spcBef>
                          <a:spcPts val="1191"/>
                        </a:spcBef>
                        <a:spcAft>
                          <a:spcPts val="992"/>
                        </a:spcAft>
                      </a:pPr>
                      <a:r>
                        <a:rPr b="0" lang="ru-RU" sz="14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Book Antiqua"/>
                        </a:rPr>
                        <a:t>14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spcBef>
                          <a:spcPts val="1191"/>
                        </a:spcBef>
                        <a:spcAft>
                          <a:spcPts val="992"/>
                        </a:spcAft>
                      </a:pPr>
                      <a:r>
                        <a:rPr b="0" lang="ru-RU" sz="14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Book Antiqua"/>
                        </a:rPr>
                        <a:t>3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spcBef>
                          <a:spcPts val="1191"/>
                        </a:spcBef>
                        <a:spcAft>
                          <a:spcPts val="992"/>
                        </a:spcAft>
                      </a:pPr>
                      <a:r>
                        <a:rPr b="0" lang="ru-RU" sz="14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Book Antiqua"/>
                        </a:rPr>
                        <a:t>3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</a:tbl>
          </a:graphicData>
        </a:graphic>
      </p:graphicFrame>
      <p:sp>
        <p:nvSpPr>
          <p:cNvPr id="76" name=""/>
          <p:cNvSpPr/>
          <p:nvPr/>
        </p:nvSpPr>
        <p:spPr>
          <a:xfrm>
            <a:off x="3138480" y="3240000"/>
            <a:ext cx="29152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ru-RU" sz="1400" strike="noStrike" u="none">
                <a:solidFill>
                  <a:srgbClr val="535353"/>
                </a:solidFill>
                <a:effectLst/>
                <a:uFillTx/>
                <a:latin typeface="Book Antiqua"/>
                <a:ea typeface="Times New Roman"/>
              </a:rPr>
              <a:t>Таблица 4 – Веса каналов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"/>
          <p:cNvSpPr/>
          <p:nvPr/>
        </p:nvSpPr>
        <p:spPr>
          <a:xfrm>
            <a:off x="180000" y="1980000"/>
            <a:ext cx="2878920" cy="283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ru-RU" sz="1800" strike="noStrike" u="none">
                <a:solidFill>
                  <a:schemeClr val="dk1">
                    <a:lumMod val="65000"/>
                    <a:lumOff val="35000"/>
                  </a:schemeClr>
                </a:solidFill>
                <a:effectLst/>
                <a:uFillTx/>
                <a:latin typeface="Book Antiqua"/>
                <a:ea typeface="DejaVu Sans"/>
              </a:rPr>
              <a:t>Алгоритм сканирования каналов: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chemeClr val="dk1">
                    <a:lumMod val="65000"/>
                    <a:lumOff val="35000"/>
                  </a:schemeClr>
                </a:solidFill>
                <a:effectLst/>
                <a:uFillTx/>
                <a:latin typeface="Book Antiqua"/>
                <a:ea typeface="DejaVu Sans"/>
              </a:rPr>
              <a:t>Каждые 250±100 мс смена каналов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chemeClr val="dk1">
                    <a:lumMod val="65000"/>
                    <a:lumOff val="35000"/>
                  </a:schemeClr>
                </a:solidFill>
                <a:effectLst/>
                <a:uFillTx/>
                <a:latin typeface="Book Antiqua"/>
                <a:ea typeface="DejaVu Sans"/>
              </a:rPr>
              <a:t>P_stay = 0.2 на тот же канал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chemeClr val="dk1">
                    <a:lumMod val="65000"/>
                    <a:lumOff val="35000"/>
                  </a:schemeClr>
                </a:solidFill>
                <a:effectLst/>
                <a:uFillTx/>
                <a:latin typeface="Book Antiqua"/>
                <a:ea typeface="DejaVu Sans"/>
              </a:rPr>
              <a:t>P_anc = 0.2 на 6 канал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chemeClr val="dk1">
                    <a:lumMod val="65000"/>
                    <a:lumOff val="35000"/>
                  </a:schemeClr>
                </a:solidFill>
                <a:effectLst/>
                <a:uFillTx/>
                <a:latin typeface="Book Antiqua"/>
                <a:ea typeface="DejaVu Sans"/>
              </a:rPr>
              <a:t>Взвешенный выбор каналов согласно Таблице 4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78" name="Таблица 3"/>
          <p:cNvGraphicFramePr/>
          <p:nvPr/>
        </p:nvGraphicFramePr>
        <p:xfrm>
          <a:off x="3206880" y="1829520"/>
          <a:ext cx="8852760" cy="1350000"/>
        </p:xfrm>
        <a:graphic>
          <a:graphicData uri="http://schemas.openxmlformats.org/drawingml/2006/table">
            <a:tbl>
              <a:tblPr/>
              <a:tblGrid>
                <a:gridCol w="1888200"/>
                <a:gridCol w="1166400"/>
                <a:gridCol w="5798520"/>
              </a:tblGrid>
              <a:tr h="30672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1" lang="ru-RU" sz="1400" strike="noStrike" u="none">
                          <a:solidFill>
                            <a:schemeClr val="lt1"/>
                          </a:solidFill>
                          <a:effectLst/>
                          <a:uFillTx/>
                          <a:latin typeface="Book Antiqua"/>
                        </a:rPr>
                        <a:t>Расстояние</a:t>
                      </a:r>
                      <a:endParaRPr b="0" lang="ru-RU" sz="14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ru-RU" sz="1400" strike="noStrike" u="none">
                          <a:solidFill>
                            <a:schemeClr val="lt1"/>
                          </a:solidFill>
                          <a:effectLst/>
                          <a:uFillTx/>
                          <a:latin typeface="Book Antiqua"/>
                        </a:rPr>
                        <a:t>Значение</a:t>
                      </a:r>
                      <a:endParaRPr b="0" lang="ru-RU" sz="14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ru-RU" sz="1400" strike="noStrike" u="none">
                          <a:solidFill>
                            <a:schemeClr val="lt1"/>
                          </a:solidFill>
                          <a:effectLst/>
                          <a:uFillTx/>
                          <a:latin typeface="Book Antiqua"/>
                        </a:rPr>
                        <a:t>Рекомендация выбора</a:t>
                      </a:r>
                      <a:endParaRPr b="0" lang="ru-RU" sz="14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</a:tr>
              <a:tr h="52164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191"/>
                        </a:spcBef>
                        <a:spcAft>
                          <a:spcPts val="992"/>
                        </a:spcAft>
                      </a:pPr>
                      <a:r>
                        <a:rPr b="0" lang="ru-RU" sz="14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Book Antiqua"/>
                        </a:rPr>
                        <a:t>Евклидово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spcBef>
                          <a:spcPts val="1191"/>
                        </a:spcBef>
                        <a:spcAft>
                          <a:spcPts val="992"/>
                        </a:spcAft>
                      </a:pPr>
                      <a:r>
                        <a:rPr b="0" lang="ru-RU" sz="14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Book Antiqua"/>
                        </a:rPr>
                        <a:t>40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ru-RU" sz="14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Book Antiqua"/>
                        </a:rPr>
                        <a:t>Зависит от количества сенсоров, при низком значении возможны ложные срабатывания из-за движущихся объектов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  <a:tr h="52164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191"/>
                        </a:spcBef>
                        <a:spcAft>
                          <a:spcPts val="992"/>
                        </a:spcAft>
                      </a:pPr>
                      <a:r>
                        <a:rPr b="0" lang="ru-RU" sz="14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Book Antiqua"/>
                        </a:rPr>
                        <a:t>Косинусное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spcBef>
                          <a:spcPts val="1191"/>
                        </a:spcBef>
                        <a:spcAft>
                          <a:spcPts val="992"/>
                        </a:spcAft>
                      </a:pPr>
                      <a:r>
                        <a:rPr b="0" lang="ru-RU" sz="14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Book Antiqua"/>
                        </a:rPr>
                        <a:t>0.1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ru-RU" sz="14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Book Antiqua"/>
                        </a:rPr>
                        <a:t>Определяет чувствительность к распределению мощности, можно выбирать минимальное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</a:tbl>
          </a:graphicData>
        </a:graphic>
      </p:graphicFrame>
      <p:sp>
        <p:nvSpPr>
          <p:cNvPr id="79" name=""/>
          <p:cNvSpPr/>
          <p:nvPr/>
        </p:nvSpPr>
        <p:spPr>
          <a:xfrm>
            <a:off x="1440000" y="1440000"/>
            <a:ext cx="305892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ru-RU" sz="1400" strike="noStrike" u="none">
                <a:solidFill>
                  <a:srgbClr val="535353"/>
                </a:solidFill>
                <a:effectLst/>
                <a:uFillTx/>
                <a:latin typeface="Book Antiqua"/>
                <a:ea typeface="Times New Roman"/>
              </a:rPr>
              <a:t>Таблица 3 – пороговые значения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0" name="Группа 8"/>
          <p:cNvGrpSpPr/>
          <p:nvPr/>
        </p:nvGrpSpPr>
        <p:grpSpPr>
          <a:xfrm>
            <a:off x="0" y="427680"/>
            <a:ext cx="12034440" cy="609480"/>
            <a:chOff x="0" y="427680"/>
            <a:chExt cx="12034440" cy="609480"/>
          </a:xfrm>
        </p:grpSpPr>
        <p:pic>
          <p:nvPicPr>
            <p:cNvPr id="81" name="Рисунок 9" descr=""/>
            <p:cNvPicPr/>
            <p:nvPr/>
          </p:nvPicPr>
          <p:blipFill>
            <a:blip r:embed="rId1"/>
            <a:srcRect l="0" t="23835" r="0" b="55754"/>
            <a:stretch/>
          </p:blipFill>
          <p:spPr>
            <a:xfrm>
              <a:off x="10311840" y="427680"/>
              <a:ext cx="1722600" cy="60948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82" name="Пятиугольник 4"/>
            <p:cNvSpPr/>
            <p:nvPr/>
          </p:nvSpPr>
          <p:spPr>
            <a:xfrm>
              <a:off x="0" y="484920"/>
              <a:ext cx="5387760" cy="552240"/>
            </a:xfrm>
            <a:prstGeom prst="homePlate">
              <a:avLst>
                <a:gd name="adj" fmla="val 50000"/>
              </a:avLst>
            </a:prstGeom>
            <a:solidFill>
              <a:srgbClr val="256569"/>
            </a:solidFill>
            <a:ln w="126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ru-RU" sz="1800" strike="noStrike" u="none">
                <a:solidFill>
                  <a:schemeClr val="lt1"/>
                </a:solidFill>
                <a:effectLst/>
                <a:uFillTx/>
                <a:latin typeface="Calibri"/>
                <a:ea typeface="DejaVu Sans"/>
              </a:endParaRPr>
            </a:p>
          </p:txBody>
        </p:sp>
        <p:sp>
          <p:nvSpPr>
            <p:cNvPr id="83" name="TextBox 11"/>
            <p:cNvSpPr/>
            <p:nvPr/>
          </p:nvSpPr>
          <p:spPr>
            <a:xfrm>
              <a:off x="141120" y="588960"/>
              <a:ext cx="2878560" cy="363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spAutoFit/>
            </a:bodyPr>
            <a:p>
              <a:pPr defTabSz="457200">
                <a:lnSpc>
                  <a:spcPct val="100000"/>
                </a:lnSpc>
              </a:pPr>
              <a:r>
                <a:rPr b="1" lang="ru-RU" sz="1800" strike="noStrike" u="none">
                  <a:solidFill>
                    <a:schemeClr val="lt1"/>
                  </a:solidFill>
                  <a:effectLst/>
                  <a:uFillTx/>
                  <a:latin typeface="Book Antiqua"/>
                  <a:ea typeface="DejaVu Sans"/>
                </a:rPr>
                <a:t>Оценка эффективности</a:t>
              </a:r>
              <a:endPara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4" name="Rectangle 2"/>
          <p:cNvSpPr/>
          <p:nvPr/>
        </p:nvSpPr>
        <p:spPr>
          <a:xfrm>
            <a:off x="180000" y="1289520"/>
            <a:ext cx="3959280" cy="228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ctr">
            <a:spAutoFit/>
          </a:bodyPr>
          <a:p>
            <a:pPr marL="285840" indent="-285840" defTabSz="914400">
              <a:lnSpc>
                <a:spcPct val="100000"/>
              </a:lnSpc>
              <a:buClr>
                <a:srgbClr val="404040"/>
              </a:buClr>
              <a:buFont typeface="Arial"/>
              <a:buChar char="•"/>
            </a:pPr>
            <a:r>
              <a:rPr b="0" lang="ru-RU" sz="1600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Book Antiqua"/>
                <a:ea typeface="Times New Roman"/>
              </a:rPr>
              <a:t>Проведена проверка возможности обнаружения для 4х типовых сценариев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404040"/>
              </a:buClr>
              <a:buFont typeface="Arial"/>
              <a:buChar char="•"/>
            </a:pPr>
            <a:r>
              <a:rPr b="0" lang="ru-RU" sz="1600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Book Antiqua"/>
                <a:ea typeface="Times New Roman"/>
              </a:rPr>
              <a:t>Для типового офисного помещения 200 кв. м. проведена оценка увеличения оперативности выявления и поиска устройств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404040"/>
              </a:buClr>
              <a:buFont typeface="Arial"/>
              <a:buChar char="•"/>
            </a:pPr>
            <a:r>
              <a:rPr b="0" lang="ru-RU" sz="1600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Book Antiqua"/>
                <a:ea typeface="Times New Roman"/>
              </a:rPr>
              <a:t>Оперативность выявления устройств увеличена на 28%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85" name="Таблица 4"/>
          <p:cNvGraphicFramePr/>
          <p:nvPr/>
        </p:nvGraphicFramePr>
        <p:xfrm>
          <a:off x="4680" y="4142520"/>
          <a:ext cx="12016800" cy="2608560"/>
        </p:xfrm>
        <a:graphic>
          <a:graphicData uri="http://schemas.openxmlformats.org/drawingml/2006/table">
            <a:tbl>
              <a:tblPr/>
              <a:tblGrid>
                <a:gridCol w="2183040"/>
                <a:gridCol w="1408680"/>
                <a:gridCol w="1411560"/>
                <a:gridCol w="7013880"/>
              </a:tblGrid>
              <a:tr h="51912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1" lang="ru-RU" sz="1400" strike="noStrike" u="none">
                          <a:solidFill>
                            <a:schemeClr val="lt1"/>
                          </a:solidFill>
                          <a:effectLst/>
                          <a:uFillTx/>
                          <a:latin typeface="Book Antiqua"/>
                        </a:rPr>
                        <a:t>Сценарий</a:t>
                      </a:r>
                      <a:endParaRPr b="0" lang="ru-RU" sz="14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ru-RU" sz="1400" strike="noStrike" u="none">
                          <a:solidFill>
                            <a:schemeClr val="lt1"/>
                          </a:solidFill>
                          <a:effectLst/>
                          <a:uFillTx/>
                          <a:latin typeface="Book Antiqua"/>
                        </a:rPr>
                        <a:t>Модальность</a:t>
                      </a:r>
                      <a:endParaRPr b="0" lang="ru-RU" sz="14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ru-RU" sz="1400" strike="noStrike" u="none">
                          <a:solidFill>
                            <a:schemeClr val="lt1"/>
                          </a:solidFill>
                          <a:effectLst/>
                          <a:uFillTx/>
                          <a:latin typeface="Book Antiqua"/>
                        </a:rPr>
                        <a:t>Время обнаружения</a:t>
                      </a:r>
                      <a:endParaRPr b="0" lang="ru-RU" sz="14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ru-RU" sz="1400" strike="noStrike" u="none">
                          <a:solidFill>
                            <a:schemeClr val="lt1"/>
                          </a:solidFill>
                          <a:effectLst/>
                          <a:uFillTx/>
                          <a:latin typeface="Book Antiqua"/>
                        </a:rPr>
                        <a:t>Примечание</a:t>
                      </a:r>
                      <a:endParaRPr b="0" lang="ru-RU" sz="14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</a:tr>
              <a:tr h="52164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191"/>
                        </a:spcBef>
                        <a:spcAft>
                          <a:spcPts val="992"/>
                        </a:spcAft>
                      </a:pPr>
                      <a:r>
                        <a:rPr b="0" lang="ru-RU" sz="14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Book Antiqua"/>
                        </a:rPr>
                        <a:t>Неразрешенный SSID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4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Book Antiqua"/>
                        </a:rPr>
                        <a:t>Логическая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ru-RU" sz="14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Book Antiqua"/>
                        </a:rPr>
                        <a:t>&lt; 60c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4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Book Antiqua"/>
                        </a:rPr>
                        <a:t>Сеть, не санкционированная организацией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  <a:tr h="52236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191"/>
                        </a:spcBef>
                        <a:spcAft>
                          <a:spcPts val="992"/>
                        </a:spcAft>
                      </a:pPr>
                      <a:r>
                        <a:rPr b="0" lang="ru-RU" sz="14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Book Antiqua"/>
                        </a:rPr>
                        <a:t>Фишинговый SSID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ru-RU" sz="14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Book Antiqua"/>
                        </a:rPr>
                        <a:t>Логическая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ru-RU" sz="14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Book Antiqua"/>
                        </a:rPr>
                        <a:t>&lt; 60c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4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Book Antiqua"/>
                        </a:rPr>
                        <a:t>Сеть с названием, походи на санкционированное организацией, призванная вводить пользователей в заблуждение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  <a:tr h="52236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191"/>
                        </a:spcBef>
                        <a:spcAft>
                          <a:spcPts val="992"/>
                        </a:spcAft>
                      </a:pPr>
                      <a:r>
                        <a:rPr b="0" lang="ru-RU" sz="14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Book Antiqua"/>
                        </a:rPr>
                        <a:t>Разрешенный SSID, неразрешенный BSSID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ru-RU" sz="14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Book Antiqua"/>
                        </a:rPr>
                        <a:t>Логическая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ru-RU" sz="14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Book Antiqua"/>
                        </a:rPr>
                        <a:t>&lt; 60c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4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Book Antiqua"/>
                        </a:rPr>
                        <a:t>Неавторизованная точка доступа в сети, санкционированной организацией — rogue AP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  <a:tr h="52308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191"/>
                        </a:spcBef>
                        <a:spcAft>
                          <a:spcPts val="992"/>
                        </a:spcAft>
                      </a:pPr>
                      <a:r>
                        <a:rPr b="0" lang="ru-RU" sz="14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Book Antiqua"/>
                        </a:rPr>
                        <a:t>Фальшивая точка доступа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ru-RU" sz="14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Book Antiqua"/>
                        </a:rPr>
                        <a:t>Физическая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ru-RU" sz="14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Book Antiqua"/>
                        </a:rPr>
                        <a:t>&lt; 300c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4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Book Antiqua"/>
                        </a:rPr>
                        <a:t>Фальшивая точка доступа, выдающая себя за санкционированную организацией, полное копирование санкционированных параметров — evil twin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</a:tbl>
          </a:graphicData>
        </a:graphic>
      </p:graphicFrame>
      <p:sp>
        <p:nvSpPr>
          <p:cNvPr id="86" name=""/>
          <p:cNvSpPr/>
          <p:nvPr/>
        </p:nvSpPr>
        <p:spPr>
          <a:xfrm>
            <a:off x="27720" y="3796920"/>
            <a:ext cx="2915640" cy="30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ru-RU" sz="1400" strike="noStrike" u="none">
                <a:solidFill>
                  <a:srgbClr val="535353"/>
                </a:solidFill>
                <a:effectLst/>
                <a:uFillTx/>
                <a:latin typeface="Book Antiqua"/>
                <a:ea typeface="Times New Roman"/>
              </a:rPr>
              <a:t>Таблица 7 – Типовые сценарии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87" name="Таблица 5"/>
          <p:cNvGraphicFramePr/>
          <p:nvPr/>
        </p:nvGraphicFramePr>
        <p:xfrm>
          <a:off x="4303080" y="2484360"/>
          <a:ext cx="7745760" cy="1580760"/>
        </p:xfrm>
        <a:graphic>
          <a:graphicData uri="http://schemas.openxmlformats.org/drawingml/2006/table">
            <a:tbl>
              <a:tblPr/>
              <a:tblGrid>
                <a:gridCol w="1650240"/>
                <a:gridCol w="1532520"/>
                <a:gridCol w="4563360"/>
              </a:tblGrid>
              <a:tr h="52164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1" lang="ru-RU" sz="1400" strike="noStrike" u="none">
                          <a:solidFill>
                            <a:schemeClr val="lt1"/>
                          </a:solidFill>
                          <a:effectLst/>
                          <a:uFillTx/>
                          <a:latin typeface="Book Antiqua"/>
                        </a:rPr>
                        <a:t>Способ</a:t>
                      </a:r>
                      <a:endParaRPr b="0" lang="ru-RU" sz="14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ru-RU" sz="1400" strike="noStrike" u="none">
                          <a:solidFill>
                            <a:schemeClr val="lt1"/>
                          </a:solidFill>
                          <a:effectLst/>
                          <a:uFillTx/>
                          <a:latin typeface="Book Antiqua"/>
                        </a:rPr>
                        <a:t>Среднее время поиска, мин</a:t>
                      </a:r>
                      <a:endParaRPr b="0" lang="ru-RU" sz="14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ru-RU" sz="1400" strike="noStrike" u="none">
                          <a:solidFill>
                            <a:schemeClr val="lt1"/>
                          </a:solidFill>
                          <a:effectLst/>
                          <a:uFillTx/>
                          <a:latin typeface="Book Antiqua"/>
                        </a:rPr>
                        <a:t>Примечание</a:t>
                      </a:r>
                      <a:endParaRPr b="0" lang="ru-RU" sz="14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</a:tr>
              <a:tr h="52164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191"/>
                        </a:spcBef>
                        <a:spcAft>
                          <a:spcPts val="992"/>
                        </a:spcAft>
                      </a:pPr>
                      <a:r>
                        <a:rPr b="0" lang="ru-RU" sz="14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Book Antiqua"/>
                        </a:rPr>
                        <a:t>Только носимый детектор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4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Book Antiqua"/>
                        </a:rPr>
                        <a:t>25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4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Book Antiqua"/>
                        </a:rPr>
                        <a:t>Экспертная оценка, слепой поиск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  <a:tr h="53748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spcBef>
                          <a:spcPts val="1191"/>
                        </a:spcBef>
                        <a:spcAft>
                          <a:spcPts val="992"/>
                        </a:spcAft>
                      </a:pPr>
                      <a:r>
                        <a:rPr b="0" lang="ru-RU" sz="14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Book Antiqua"/>
                        </a:rPr>
                        <a:t>Разработання модель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ru-RU" sz="14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Book Antiqua"/>
                        </a:rPr>
                        <a:t>18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4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Book Antiqua"/>
                        </a:rPr>
                        <a:t>1 мин — задержка сбора и обработки, 5 мин — анализ отчета, 12 мин — обход одного помещения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</a:tbl>
          </a:graphicData>
        </a:graphic>
      </p:graphicFrame>
      <p:sp>
        <p:nvSpPr>
          <p:cNvPr id="88" name=""/>
          <p:cNvSpPr/>
          <p:nvPr/>
        </p:nvSpPr>
        <p:spPr>
          <a:xfrm>
            <a:off x="4231800" y="2160000"/>
            <a:ext cx="368748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ru-RU" sz="1400" strike="noStrike" u="none">
                <a:solidFill>
                  <a:srgbClr val="535353"/>
                </a:solidFill>
                <a:effectLst/>
                <a:uFillTx/>
                <a:latin typeface="Book Antiqua"/>
                <a:ea typeface="Times New Roman"/>
              </a:rPr>
              <a:t>Таблица 6 – Увеличение оперативности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TextBox 5"/>
          <p:cNvSpPr/>
          <p:nvPr/>
        </p:nvSpPr>
        <p:spPr>
          <a:xfrm>
            <a:off x="1665720" y="541800"/>
            <a:ext cx="48056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ru-RU" sz="1800" strike="noStrike" u="none">
                <a:solidFill>
                  <a:schemeClr val="lt1"/>
                </a:solidFill>
                <a:effectLst/>
                <a:uFillTx/>
                <a:latin typeface="Book Antiqua"/>
                <a:ea typeface="DejaVu Sans"/>
              </a:rPr>
              <a:t>Результаты решения частной задачи № 3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TextBox 13"/>
          <p:cNvSpPr/>
          <p:nvPr/>
        </p:nvSpPr>
        <p:spPr>
          <a:xfrm>
            <a:off x="180000" y="1292400"/>
            <a:ext cx="11215440" cy="379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50000"/>
              </a:lnSpc>
            </a:pPr>
            <a:r>
              <a:rPr b="0" lang="ru-RU" sz="1800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Book Antiqua"/>
                <a:ea typeface="Calibri"/>
              </a:rPr>
              <a:t>1. Разработана и реализована мультимодальная модель пассивного радиомониторинга, объединяющая логические (SSID, BSSID) и физические (RSSI, CSI) признаки.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50000"/>
              </a:lnSpc>
            </a:pPr>
            <a:r>
              <a:rPr b="0" lang="ru-RU" sz="1800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Book Antiqua"/>
                <a:ea typeface="Calibri"/>
              </a:rPr>
              <a:t>2. Создан программно-аппаратный комплекс на базе ESP32, который обеспечивает: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50000"/>
              </a:lnSpc>
              <a:buClr>
                <a:srgbClr val="404040"/>
              </a:buClr>
              <a:buFont typeface="Arial"/>
              <a:buChar char="•"/>
            </a:pPr>
            <a:r>
              <a:rPr b="0" lang="ru-RU" sz="1800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Book Antiqua"/>
                <a:ea typeface="Calibri"/>
              </a:rPr>
              <a:t>    автоматическое выявление неразрешенных SSID/BSSID;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50000"/>
              </a:lnSpc>
              <a:buClr>
                <a:srgbClr val="404040"/>
              </a:buClr>
              <a:buFont typeface="Arial"/>
              <a:buChar char="•"/>
            </a:pPr>
            <a:r>
              <a:rPr b="0" lang="ru-RU" sz="1800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Book Antiqua"/>
                <a:ea typeface="Calibri"/>
              </a:rPr>
              <a:t>    обнаружение Evil Twin по амплитудным профилям CSI;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50000"/>
              </a:lnSpc>
              <a:buClr>
                <a:srgbClr val="404040"/>
              </a:buClr>
              <a:buFont typeface="Arial"/>
              <a:buChar char="•"/>
            </a:pPr>
            <a:r>
              <a:rPr b="0" lang="ru-RU" sz="1800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Book Antiqua"/>
                <a:ea typeface="Calibri"/>
              </a:rPr>
              <a:t>    первичную локализацию (сужение зоны поиска до 3–5 м или комнаты).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50000"/>
              </a:lnSpc>
            </a:pPr>
            <a:r>
              <a:rPr b="0" lang="ru-RU" sz="1800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Book Antiqua"/>
                <a:ea typeface="Calibri"/>
              </a:rPr>
              <a:t>3. Продемонстрирована возможность обнаружения типовых угроз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50000"/>
              </a:lnSpc>
            </a:pPr>
            <a:r>
              <a:rPr b="0" lang="ru-RU" sz="1800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Book Antiqua"/>
                <a:ea typeface="Calibri"/>
              </a:rPr>
              <a:t>4. Продемонстрировано повышение оперативности обнаружения на 28% за счёт автоматизированного анализа и наведения оператора для типового офисного помещения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91" name="Группа 10"/>
          <p:cNvGrpSpPr/>
          <p:nvPr/>
        </p:nvGrpSpPr>
        <p:grpSpPr>
          <a:xfrm>
            <a:off x="0" y="427680"/>
            <a:ext cx="12034440" cy="609480"/>
            <a:chOff x="0" y="427680"/>
            <a:chExt cx="12034440" cy="609480"/>
          </a:xfrm>
        </p:grpSpPr>
        <p:pic>
          <p:nvPicPr>
            <p:cNvPr id="92" name="Рисунок 11" descr=""/>
            <p:cNvPicPr/>
            <p:nvPr/>
          </p:nvPicPr>
          <p:blipFill>
            <a:blip r:embed="rId1"/>
            <a:srcRect l="0" t="23835" r="0" b="55754"/>
            <a:stretch/>
          </p:blipFill>
          <p:spPr>
            <a:xfrm>
              <a:off x="10311840" y="427680"/>
              <a:ext cx="1722600" cy="60948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93" name="Пятиугольник 4"/>
            <p:cNvSpPr/>
            <p:nvPr/>
          </p:nvSpPr>
          <p:spPr>
            <a:xfrm>
              <a:off x="0" y="484920"/>
              <a:ext cx="6725880" cy="552240"/>
            </a:xfrm>
            <a:prstGeom prst="homePlate">
              <a:avLst>
                <a:gd name="adj" fmla="val 50000"/>
              </a:avLst>
            </a:prstGeom>
            <a:solidFill>
              <a:srgbClr val="256569"/>
            </a:solidFill>
            <a:ln w="126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ru-RU" sz="1800" strike="noStrike" u="none">
                <a:solidFill>
                  <a:schemeClr val="lt1"/>
                </a:solidFill>
                <a:effectLst/>
                <a:uFillTx/>
                <a:latin typeface="Calibri"/>
                <a:ea typeface="DejaVu Sans"/>
              </a:endParaRPr>
            </a:p>
          </p:txBody>
        </p:sp>
        <p:sp>
          <p:nvSpPr>
            <p:cNvPr id="94" name="TextBox 15"/>
            <p:cNvSpPr/>
            <p:nvPr/>
          </p:nvSpPr>
          <p:spPr>
            <a:xfrm>
              <a:off x="141120" y="588960"/>
              <a:ext cx="6006240" cy="363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spAutoFit/>
            </a:bodyPr>
            <a:p>
              <a:pPr defTabSz="457200">
                <a:lnSpc>
                  <a:spcPct val="100000"/>
                </a:lnSpc>
              </a:pPr>
              <a:r>
                <a:rPr b="1" lang="ru-RU" sz="1800" strike="noStrike" u="none">
                  <a:solidFill>
                    <a:schemeClr val="lt1"/>
                  </a:solidFill>
                  <a:effectLst/>
                  <a:uFillTx/>
                  <a:latin typeface="Book Antiqua"/>
                  <a:ea typeface="DejaVu Sans"/>
                </a:rPr>
                <a:t>Практическая значимость полученных результатов</a:t>
              </a:r>
              <a:endPara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95" name="TextBox 17"/>
          <p:cNvSpPr/>
          <p:nvPr/>
        </p:nvSpPr>
        <p:spPr>
          <a:xfrm>
            <a:off x="1152000" y="5011920"/>
            <a:ext cx="1030968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TextBox 5"/>
          <p:cNvSpPr/>
          <p:nvPr/>
        </p:nvSpPr>
        <p:spPr>
          <a:xfrm>
            <a:off x="1665720" y="541800"/>
            <a:ext cx="11062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ru-RU" sz="1800" strike="noStrike" u="none">
                <a:solidFill>
                  <a:schemeClr val="lt1"/>
                </a:solidFill>
                <a:effectLst/>
                <a:uFillTx/>
                <a:latin typeface="Book Antiqua"/>
                <a:ea typeface="DejaVu Sans"/>
              </a:rPr>
              <a:t>Выводы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TextBox 6"/>
          <p:cNvSpPr/>
          <p:nvPr/>
        </p:nvSpPr>
        <p:spPr>
          <a:xfrm>
            <a:off x="0" y="1620000"/>
            <a:ext cx="3599280" cy="452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343080" indent="-343080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595959"/>
              </a:buClr>
              <a:buFont typeface="Arial"/>
              <a:buChar char="•"/>
            </a:pPr>
            <a:r>
              <a:rPr b="0" lang="ru-RU" sz="1800" strike="noStrike" u="none">
                <a:solidFill>
                  <a:schemeClr val="dk1">
                    <a:lumMod val="65000"/>
                    <a:lumOff val="35000"/>
                  </a:schemeClr>
                </a:solidFill>
                <a:effectLst/>
                <a:uFillTx/>
                <a:latin typeface="Book Antiqua"/>
                <a:ea typeface="DejaVu Sans"/>
              </a:rPr>
              <a:t>Анализ подходов к обнаружению источников излучения Wi-Fi 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595959"/>
              </a:buClr>
              <a:buFont typeface="Arial"/>
              <a:buChar char="•"/>
            </a:pPr>
            <a:r>
              <a:rPr b="0" lang="ru-RU" sz="1800" strike="noStrike" u="none">
                <a:solidFill>
                  <a:schemeClr val="dk1">
                    <a:lumMod val="65000"/>
                    <a:lumOff val="35000"/>
                  </a:schemeClr>
                </a:solidFill>
                <a:effectLst/>
                <a:uFillTx/>
                <a:latin typeface="Book Antiqua"/>
                <a:ea typeface="DejaVu Sans"/>
              </a:rPr>
              <a:t>Анализ безопасности Wi-Fi в кредитно-финансовых организациях 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595959"/>
              </a:buClr>
              <a:buFont typeface="Arial"/>
              <a:buChar char="•"/>
            </a:pPr>
            <a:r>
              <a:rPr b="0" lang="ru-RU" sz="1800" strike="noStrike" u="none">
                <a:solidFill>
                  <a:schemeClr val="dk1">
                    <a:lumMod val="65000"/>
                    <a:lumOff val="35000"/>
                  </a:schemeClr>
                </a:solidFill>
                <a:effectLst/>
                <a:uFillTx/>
                <a:latin typeface="Book Antiqua"/>
                <a:ea typeface="DejaVu Sans"/>
              </a:rPr>
              <a:t> Разработка мультимодальной модели и ПАК 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595959"/>
              </a:buClr>
              <a:buFont typeface="Arial"/>
              <a:buChar char="•"/>
            </a:pPr>
            <a:r>
              <a:rPr b="0" lang="ru-RU" sz="1800" strike="noStrike" u="none">
                <a:solidFill>
                  <a:schemeClr val="dk1">
                    <a:lumMod val="65000"/>
                    <a:lumOff val="35000"/>
                  </a:schemeClr>
                </a:solidFill>
                <a:effectLst/>
                <a:uFillTx/>
                <a:latin typeface="Book Antiqua"/>
                <a:ea typeface="DejaVu Sans"/>
              </a:rPr>
              <a:t> Оценка эффективности 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ru-RU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ru-RU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TextBox 7"/>
          <p:cNvSpPr/>
          <p:nvPr/>
        </p:nvSpPr>
        <p:spPr>
          <a:xfrm>
            <a:off x="1487520" y="1143360"/>
            <a:ext cx="9297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ru-RU" sz="1800" strike="noStrike" u="none">
                <a:solidFill>
                  <a:srgbClr val="2c2d2e"/>
                </a:solidFill>
                <a:effectLst/>
                <a:uFillTx/>
                <a:latin typeface="Calibri"/>
                <a:ea typeface="DejaVu Sans"/>
              </a:rPr>
              <a:t>Результаты  выполнения по каждой поставленной задаче и вывод о достижении цели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99" name="Группа 8"/>
          <p:cNvGrpSpPr/>
          <p:nvPr/>
        </p:nvGrpSpPr>
        <p:grpSpPr>
          <a:xfrm>
            <a:off x="0" y="427680"/>
            <a:ext cx="12034440" cy="609480"/>
            <a:chOff x="0" y="427680"/>
            <a:chExt cx="12034440" cy="609480"/>
          </a:xfrm>
        </p:grpSpPr>
        <p:pic>
          <p:nvPicPr>
            <p:cNvPr id="100" name="Рисунок 9" descr=""/>
            <p:cNvPicPr/>
            <p:nvPr/>
          </p:nvPicPr>
          <p:blipFill>
            <a:blip r:embed="rId1"/>
            <a:srcRect l="0" t="23835" r="0" b="55754"/>
            <a:stretch/>
          </p:blipFill>
          <p:spPr>
            <a:xfrm>
              <a:off x="10311840" y="427680"/>
              <a:ext cx="1722600" cy="60948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01" name="Пятиугольник 4"/>
            <p:cNvSpPr/>
            <p:nvPr/>
          </p:nvSpPr>
          <p:spPr>
            <a:xfrm>
              <a:off x="0" y="484920"/>
              <a:ext cx="6725880" cy="552240"/>
            </a:xfrm>
            <a:prstGeom prst="homePlate">
              <a:avLst>
                <a:gd name="adj" fmla="val 50000"/>
              </a:avLst>
            </a:prstGeom>
            <a:solidFill>
              <a:srgbClr val="256569"/>
            </a:solidFill>
            <a:ln w="126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ru-RU" sz="1800" strike="noStrike" u="none">
                <a:solidFill>
                  <a:schemeClr val="lt1"/>
                </a:solidFill>
                <a:effectLst/>
                <a:uFillTx/>
                <a:latin typeface="Calibri"/>
                <a:ea typeface="DejaVu Sans"/>
              </a:endParaRPr>
            </a:p>
          </p:txBody>
        </p:sp>
        <p:sp>
          <p:nvSpPr>
            <p:cNvPr id="102" name="TextBox 11"/>
            <p:cNvSpPr/>
            <p:nvPr/>
          </p:nvSpPr>
          <p:spPr>
            <a:xfrm>
              <a:off x="141120" y="588960"/>
              <a:ext cx="3162600" cy="363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spAutoFit/>
            </a:bodyPr>
            <a:p>
              <a:pPr defTabSz="457200">
                <a:lnSpc>
                  <a:spcPct val="100000"/>
                </a:lnSpc>
              </a:pPr>
              <a:r>
                <a:rPr b="1" lang="ru-RU" sz="1800" strike="noStrike" u="none">
                  <a:solidFill>
                    <a:schemeClr val="lt1"/>
                  </a:solidFill>
                  <a:effectLst/>
                  <a:uFillTx/>
                  <a:latin typeface="Book Antiqua"/>
                  <a:ea typeface="DejaVu Sans"/>
                </a:rPr>
                <a:t>Вывод о достижении цели</a:t>
              </a:r>
              <a:endPara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03" name="Стрелка: вправо 12"/>
          <p:cNvSpPr/>
          <p:nvPr/>
        </p:nvSpPr>
        <p:spPr>
          <a:xfrm>
            <a:off x="3684960" y="1980000"/>
            <a:ext cx="2951640" cy="29376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1"/>
          </a:solidFill>
          <a:ln w="12600">
            <a:solidFill>
              <a:srgbClr val="4472c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ru-RU" sz="1800" strike="noStrike" u="none">
              <a:solidFill>
                <a:schemeClr val="lt1"/>
              </a:solidFill>
              <a:effectLst/>
              <a:uFillTx/>
              <a:latin typeface="Calibri"/>
              <a:ea typeface="DejaVu Sans"/>
            </a:endParaRPr>
          </a:p>
        </p:txBody>
      </p:sp>
      <p:sp>
        <p:nvSpPr>
          <p:cNvPr id="104" name="Стрелка: вправо 13"/>
          <p:cNvSpPr/>
          <p:nvPr/>
        </p:nvSpPr>
        <p:spPr>
          <a:xfrm>
            <a:off x="3707640" y="2994480"/>
            <a:ext cx="2951640" cy="29376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1"/>
          </a:solidFill>
          <a:ln w="12600">
            <a:solidFill>
              <a:srgbClr val="4472c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ru-RU" sz="1800" strike="noStrike" u="none">
              <a:solidFill>
                <a:schemeClr val="lt1"/>
              </a:solidFill>
              <a:effectLst/>
              <a:uFillTx/>
              <a:latin typeface="Calibri"/>
              <a:ea typeface="DejaVu Sans"/>
            </a:endParaRPr>
          </a:p>
        </p:txBody>
      </p:sp>
      <p:sp>
        <p:nvSpPr>
          <p:cNvPr id="105" name="Стрелка: вправо 14"/>
          <p:cNvSpPr/>
          <p:nvPr/>
        </p:nvSpPr>
        <p:spPr>
          <a:xfrm>
            <a:off x="3707640" y="4025520"/>
            <a:ext cx="2951640" cy="29376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1"/>
          </a:solidFill>
          <a:ln w="12600">
            <a:solidFill>
              <a:srgbClr val="4472c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ru-RU" sz="1800" strike="noStrike" u="none">
              <a:solidFill>
                <a:schemeClr val="lt1"/>
              </a:solidFill>
              <a:effectLst/>
              <a:uFillTx/>
              <a:latin typeface="Calibri"/>
              <a:ea typeface="DejaVu Sans"/>
            </a:endParaRPr>
          </a:p>
        </p:txBody>
      </p:sp>
      <p:sp>
        <p:nvSpPr>
          <p:cNvPr id="106" name="TextBox 15"/>
          <p:cNvSpPr/>
          <p:nvPr/>
        </p:nvSpPr>
        <p:spPr>
          <a:xfrm>
            <a:off x="6660000" y="1620000"/>
            <a:ext cx="5531400" cy="507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343080" indent="-343080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595959"/>
              </a:buClr>
              <a:buFont typeface="Arial"/>
              <a:buChar char="•"/>
            </a:pPr>
            <a:r>
              <a:rPr b="0" lang="ru-RU" sz="1800" strike="noStrike" u="none">
                <a:solidFill>
                  <a:schemeClr val="dk1">
                    <a:lumMod val="65000"/>
                    <a:lumOff val="35000"/>
                  </a:schemeClr>
                </a:solidFill>
                <a:effectLst/>
                <a:uFillTx/>
                <a:latin typeface="Book Antiqua"/>
                <a:ea typeface="DejaVu Sans"/>
              </a:rPr>
              <a:t>Выявлены ограничения каждого метода в отдельности; обоснована необходимость мультимодального подхода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595959"/>
              </a:buClr>
              <a:buFont typeface="Arial"/>
              <a:buChar char="•"/>
            </a:pPr>
            <a:r>
              <a:rPr b="0" lang="ru-RU" sz="1800" strike="noStrike" u="none">
                <a:solidFill>
                  <a:schemeClr val="dk1">
                    <a:lumMod val="65000"/>
                    <a:lumOff val="35000"/>
                  </a:schemeClr>
                </a:solidFill>
                <a:effectLst/>
                <a:uFillTx/>
                <a:latin typeface="Book Antiqua"/>
                <a:ea typeface="DejaVu Sans"/>
              </a:rPr>
              <a:t>Показано, что существующие решения либо дороги, либо не обеспечивают постоянного мониторинга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595959"/>
              </a:buClr>
              <a:buFont typeface="Arial"/>
              <a:buChar char="•"/>
            </a:pPr>
            <a:r>
              <a:rPr b="0" lang="ru-RU" sz="1800" strike="noStrike" u="none">
                <a:solidFill>
                  <a:schemeClr val="dk1">
                    <a:lumMod val="65000"/>
                    <a:lumOff val="35000"/>
                  </a:schemeClr>
                </a:solidFill>
                <a:effectLst/>
                <a:uFillTx/>
                <a:latin typeface="Book Antiqua"/>
                <a:ea typeface="DejaVu Sans"/>
              </a:rPr>
              <a:t> Созданы алгоритмы обнаружения, реализован комплекс на ESP32 с веб-интерфейсом 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595959"/>
              </a:buClr>
              <a:buFont typeface="Arial"/>
              <a:buChar char="•"/>
            </a:pPr>
            <a:r>
              <a:rPr b="0" lang="ru-RU" sz="1800" strike="noStrike" u="none">
                <a:solidFill>
                  <a:schemeClr val="dk1">
                    <a:lumMod val="65000"/>
                    <a:lumOff val="35000"/>
                  </a:schemeClr>
                </a:solidFill>
                <a:effectLst/>
                <a:uFillTx/>
                <a:latin typeface="Book Antiqua"/>
                <a:ea typeface="DejaVu Sans"/>
              </a:rPr>
              <a:t>Для 4 сценариев подтверждена работоспособность; оперативность поиска источника увеличена на 28% (с 25 до 18 мин)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ru-RU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ru-RU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Стрелка: вправо 17"/>
          <p:cNvSpPr/>
          <p:nvPr/>
        </p:nvSpPr>
        <p:spPr>
          <a:xfrm rot="5400000">
            <a:off x="9039240" y="5821200"/>
            <a:ext cx="347400" cy="29376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1"/>
          </a:solidFill>
          <a:ln w="12600">
            <a:solidFill>
              <a:srgbClr val="4472c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ru-RU" sz="1800" strike="noStrike" u="none">
              <a:solidFill>
                <a:schemeClr val="lt1"/>
              </a:solidFill>
              <a:effectLst/>
              <a:uFillTx/>
              <a:latin typeface="Calibri"/>
              <a:ea typeface="DejaVu Sans"/>
            </a:endParaRPr>
          </a:p>
        </p:txBody>
      </p:sp>
      <p:sp>
        <p:nvSpPr>
          <p:cNvPr id="108" name="TextBox 18"/>
          <p:cNvSpPr/>
          <p:nvPr/>
        </p:nvSpPr>
        <p:spPr>
          <a:xfrm>
            <a:off x="1620000" y="6142680"/>
            <a:ext cx="104392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ru-RU" sz="1800" strike="noStrike" u="none">
                <a:solidFill>
                  <a:srgbClr val="2c2d2e"/>
                </a:solidFill>
                <a:effectLst/>
                <a:uFillTx/>
                <a:latin typeface="Calibri"/>
                <a:ea typeface="DejaVu Sans"/>
              </a:rPr>
              <a:t>Цель работы достигнута – разработана мультимодальная модель и её программно-аппаратная реализация, повышающая оперативность выявления незарегистрированных Wi-Fi точек доступа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Стрелка: вправо 1"/>
          <p:cNvSpPr/>
          <p:nvPr/>
        </p:nvSpPr>
        <p:spPr>
          <a:xfrm>
            <a:off x="3780000" y="5040000"/>
            <a:ext cx="2951640" cy="29376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1"/>
          </a:solidFill>
          <a:ln w="12600">
            <a:solidFill>
              <a:srgbClr val="4472c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ru-RU" sz="1800" strike="noStrike" u="none">
              <a:solidFill>
                <a:schemeClr val="lt1"/>
              </a:solidFill>
              <a:effectLst/>
              <a:uFillTx/>
              <a:latin typeface="Calibri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TextBox 5"/>
          <p:cNvSpPr/>
          <p:nvPr/>
        </p:nvSpPr>
        <p:spPr>
          <a:xfrm>
            <a:off x="1665720" y="541800"/>
            <a:ext cx="11062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ru-RU" sz="1800" strike="noStrike" u="none">
                <a:solidFill>
                  <a:schemeClr val="lt1"/>
                </a:solidFill>
                <a:effectLst/>
                <a:uFillTx/>
                <a:latin typeface="Book Antiqua"/>
                <a:ea typeface="DejaVu Sans"/>
              </a:rPr>
              <a:t>Выводы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TextBox 2"/>
          <p:cNvSpPr/>
          <p:nvPr/>
        </p:nvSpPr>
        <p:spPr>
          <a:xfrm>
            <a:off x="1665720" y="2997000"/>
            <a:ext cx="4646160" cy="57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ru-RU" sz="3200" strike="noStrike" u="none">
                <a:solidFill>
                  <a:schemeClr val="lt1"/>
                </a:solidFill>
                <a:effectLst/>
                <a:uFillTx/>
                <a:latin typeface="Book Antiqua"/>
                <a:ea typeface="DejaVu Sans"/>
              </a:rPr>
              <a:t>Спасибо за внимание!</a:t>
            </a: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12" name="Группа 6"/>
          <p:cNvGrpSpPr/>
          <p:nvPr/>
        </p:nvGrpSpPr>
        <p:grpSpPr>
          <a:xfrm>
            <a:off x="0" y="427680"/>
            <a:ext cx="12034440" cy="609480"/>
            <a:chOff x="0" y="427680"/>
            <a:chExt cx="12034440" cy="609480"/>
          </a:xfrm>
        </p:grpSpPr>
        <p:pic>
          <p:nvPicPr>
            <p:cNvPr id="113" name="Рисунок 7" descr=""/>
            <p:cNvPicPr/>
            <p:nvPr/>
          </p:nvPicPr>
          <p:blipFill>
            <a:blip r:embed="rId1"/>
            <a:srcRect l="0" t="23835" r="0" b="55754"/>
            <a:stretch/>
          </p:blipFill>
          <p:spPr>
            <a:xfrm>
              <a:off x="10311840" y="427680"/>
              <a:ext cx="1722600" cy="60948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14" name="Пятиугольник 4"/>
            <p:cNvSpPr/>
            <p:nvPr/>
          </p:nvSpPr>
          <p:spPr>
            <a:xfrm>
              <a:off x="0" y="484920"/>
              <a:ext cx="6725880" cy="552240"/>
            </a:xfrm>
            <a:prstGeom prst="homePlate">
              <a:avLst>
                <a:gd name="adj" fmla="val 50000"/>
              </a:avLst>
            </a:prstGeom>
            <a:solidFill>
              <a:srgbClr val="256569"/>
            </a:solidFill>
            <a:ln w="126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ru-RU" sz="1800" strike="noStrike" u="none">
                <a:solidFill>
                  <a:schemeClr val="lt1"/>
                </a:solidFill>
                <a:effectLst/>
                <a:uFillTx/>
                <a:latin typeface="Calibri"/>
                <a:ea typeface="DejaVu Sans"/>
              </a:endParaRPr>
            </a:p>
          </p:txBody>
        </p:sp>
        <p:sp>
          <p:nvSpPr>
            <p:cNvPr id="115" name="TextBox 9"/>
            <p:cNvSpPr/>
            <p:nvPr/>
          </p:nvSpPr>
          <p:spPr>
            <a:xfrm>
              <a:off x="141120" y="588960"/>
              <a:ext cx="5741640" cy="363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spAutoFit/>
            </a:bodyPr>
            <a:p>
              <a:pPr defTabSz="457200">
                <a:lnSpc>
                  <a:spcPct val="100000"/>
                </a:lnSpc>
              </a:pPr>
              <a:r>
                <a:rPr b="1" lang="ru-RU" sz="1800" strike="noStrike" u="none">
                  <a:solidFill>
                    <a:schemeClr val="lt1"/>
                  </a:solidFill>
                  <a:effectLst/>
                  <a:uFillTx/>
                  <a:latin typeface="Book Antiqua"/>
                  <a:ea typeface="DejaVu Sans"/>
                </a:rPr>
                <a:t>Акт о внедрении или применимости результатов</a:t>
              </a:r>
              <a:endPara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16" name="TextBox 13"/>
          <p:cNvSpPr/>
          <p:nvPr/>
        </p:nvSpPr>
        <p:spPr>
          <a:xfrm>
            <a:off x="184320" y="3356280"/>
            <a:ext cx="9596160" cy="155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algn="just" defTabSz="914400">
              <a:lnSpc>
                <a:spcPct val="100000"/>
              </a:lnSpc>
              <a:buClr>
                <a:srgbClr val="404040"/>
              </a:buClr>
              <a:buFont typeface="Arial"/>
              <a:buChar char="•"/>
            </a:pPr>
            <a:r>
              <a:rPr b="1" lang="ru-RU" sz="1600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Book Antiqua"/>
                <a:ea typeface="Calibri"/>
              </a:rPr>
              <a:t>Участие в конференциях: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ct val="100000"/>
              </a:lnSpc>
            </a:pPr>
            <a:r>
              <a:rPr b="0" lang="ru-RU" sz="1600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Book Antiqua"/>
                <a:ea typeface="Calibri"/>
              </a:rPr>
              <a:t> Ботников Д. А., Носков Д. П. Исследование подходов к формированию мультимодальной модели обнаружения незарегистрированных Wi-Fi точек доступа в кредитно-финансовых организациях // Кибербезопасность цифровой индустрии : Программа международной конференции аспирантов, студентов, молодых ученых. Москва, 28 ноября 2025 г. – Москва : Финансовый университет при Правительстве РФ, 2025.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TextBox 5"/>
          <p:cNvSpPr/>
          <p:nvPr/>
        </p:nvSpPr>
        <p:spPr>
          <a:xfrm>
            <a:off x="1665720" y="541800"/>
            <a:ext cx="11062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ru-RU" sz="1800" strike="noStrike" u="none">
                <a:solidFill>
                  <a:schemeClr val="lt1"/>
                </a:solidFill>
                <a:effectLst/>
                <a:uFillTx/>
                <a:latin typeface="Book Antiqua"/>
                <a:ea typeface="DejaVu Sans"/>
              </a:rPr>
              <a:t>Выводы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18" name="Группа 6"/>
          <p:cNvGrpSpPr/>
          <p:nvPr/>
        </p:nvGrpSpPr>
        <p:grpSpPr>
          <a:xfrm>
            <a:off x="0" y="427680"/>
            <a:ext cx="12034440" cy="609480"/>
            <a:chOff x="0" y="427680"/>
            <a:chExt cx="12034440" cy="609480"/>
          </a:xfrm>
        </p:grpSpPr>
        <p:pic>
          <p:nvPicPr>
            <p:cNvPr id="119" name="Рисунок 7" descr=""/>
            <p:cNvPicPr/>
            <p:nvPr/>
          </p:nvPicPr>
          <p:blipFill>
            <a:blip r:embed="rId1"/>
            <a:srcRect l="0" t="23835" r="0" b="55754"/>
            <a:stretch/>
          </p:blipFill>
          <p:spPr>
            <a:xfrm>
              <a:off x="10311840" y="427680"/>
              <a:ext cx="1722600" cy="60948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20" name="Пятиугольник 4"/>
            <p:cNvSpPr/>
            <p:nvPr/>
          </p:nvSpPr>
          <p:spPr>
            <a:xfrm>
              <a:off x="0" y="484920"/>
              <a:ext cx="6725880" cy="552240"/>
            </a:xfrm>
            <a:prstGeom prst="homePlate">
              <a:avLst>
                <a:gd name="adj" fmla="val 50000"/>
              </a:avLst>
            </a:prstGeom>
            <a:solidFill>
              <a:srgbClr val="256569"/>
            </a:solidFill>
            <a:ln w="126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ru-RU" sz="1800" strike="noStrike" u="none">
                <a:solidFill>
                  <a:schemeClr val="lt1"/>
                </a:solidFill>
                <a:effectLst/>
                <a:uFillTx/>
                <a:latin typeface="Calibri"/>
                <a:ea typeface="DejaVu Sans"/>
              </a:endParaRPr>
            </a:p>
          </p:txBody>
        </p:sp>
        <p:sp>
          <p:nvSpPr>
            <p:cNvPr id="121" name="TextBox 9"/>
            <p:cNvSpPr/>
            <p:nvPr/>
          </p:nvSpPr>
          <p:spPr>
            <a:xfrm>
              <a:off x="141120" y="588960"/>
              <a:ext cx="6143040" cy="363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spAutoFit/>
            </a:bodyPr>
            <a:p>
              <a:pPr defTabSz="457200">
                <a:lnSpc>
                  <a:spcPct val="100000"/>
                </a:lnSpc>
              </a:pPr>
              <a:r>
                <a:rPr b="1" lang="ru-RU" sz="1800" strike="noStrike" u="none">
                  <a:solidFill>
                    <a:schemeClr val="lt1"/>
                  </a:solidFill>
                  <a:effectLst/>
                  <a:uFillTx/>
                  <a:latin typeface="Book Antiqua"/>
                  <a:ea typeface="DejaVu Sans"/>
                </a:rPr>
                <a:t> Результаты выполнения задач по учебной практике</a:t>
              </a:r>
              <a:endPara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22" name=""/>
          <p:cNvSpPr/>
          <p:nvPr/>
        </p:nvSpPr>
        <p:spPr>
          <a:xfrm>
            <a:off x="180000" y="1382040"/>
            <a:ext cx="6507360" cy="22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600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Book Antiqua"/>
                <a:ea typeface="Times New Roman"/>
              </a:rPr>
              <a:t>Систематизированы существующие подходов к обнаружению и локализации источников Wi-Fi излучения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600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Book Antiqua"/>
                <a:ea typeface="Times New Roman"/>
              </a:rPr>
              <a:t>Классифицированы существующие решений для обнаружения беспроводных устройств и составлены аппаратные требования для обнаружения источников излучения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600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Book Antiqua"/>
                <a:ea typeface="Times New Roman"/>
              </a:rPr>
              <a:t>Разработана модель создания отпечатков по распределению мощностей по OFDM поднесущим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600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Book Antiqua"/>
                <a:ea typeface="Times New Roman"/>
              </a:rPr>
              <a:t>Разработана модель локализации посредством RSSI мультилатерации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3" name="" descr=""/>
          <p:cNvPicPr/>
          <p:nvPr/>
        </p:nvPicPr>
        <p:blipFill>
          <a:blip r:embed="rId2"/>
          <a:stretch/>
        </p:blipFill>
        <p:spPr>
          <a:xfrm>
            <a:off x="180000" y="3780000"/>
            <a:ext cx="5579280" cy="27381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4" name="" descr=""/>
          <p:cNvPicPr/>
          <p:nvPr/>
        </p:nvPicPr>
        <p:blipFill>
          <a:blip r:embed="rId3"/>
          <a:stretch/>
        </p:blipFill>
        <p:spPr>
          <a:xfrm>
            <a:off x="6325200" y="3825000"/>
            <a:ext cx="5374080" cy="2654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5" name="" descr=""/>
          <p:cNvPicPr/>
          <p:nvPr/>
        </p:nvPicPr>
        <p:blipFill>
          <a:blip r:embed="rId4"/>
          <a:stretch/>
        </p:blipFill>
        <p:spPr>
          <a:xfrm>
            <a:off x="7102800" y="127080"/>
            <a:ext cx="4056480" cy="3112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6" name=""/>
          <p:cNvSpPr/>
          <p:nvPr/>
        </p:nvSpPr>
        <p:spPr>
          <a:xfrm>
            <a:off x="180000" y="6480000"/>
            <a:ext cx="5579280" cy="51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ru-RU" sz="1400" strike="noStrike" u="none">
                <a:solidFill>
                  <a:srgbClr val="535353"/>
                </a:solidFill>
                <a:effectLst/>
                <a:uFillTx/>
                <a:latin typeface="Book Antiqua"/>
                <a:ea typeface="Times New Roman"/>
              </a:rPr>
              <a:t>Рисунок  3 – Распределение мощностей для смартфона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"/>
          <p:cNvSpPr/>
          <p:nvPr/>
        </p:nvSpPr>
        <p:spPr>
          <a:xfrm>
            <a:off x="6660000" y="6480000"/>
            <a:ext cx="4813560" cy="30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ru-RU" sz="1400" strike="noStrike" u="none">
                <a:solidFill>
                  <a:srgbClr val="535353"/>
                </a:solidFill>
                <a:effectLst/>
                <a:uFillTx/>
                <a:latin typeface="Book Antiqua"/>
                <a:ea typeface="Times New Roman"/>
              </a:rPr>
              <a:t>Рисунок  4 – Распределение мощностей для ESP32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"/>
          <p:cNvSpPr/>
          <p:nvPr/>
        </p:nvSpPr>
        <p:spPr>
          <a:xfrm>
            <a:off x="6525720" y="3304800"/>
            <a:ext cx="4813560" cy="51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ru-RU" sz="1400" strike="noStrike" u="none">
                <a:solidFill>
                  <a:srgbClr val="535353"/>
                </a:solidFill>
                <a:effectLst/>
                <a:uFillTx/>
                <a:latin typeface="Book Antiqua"/>
                <a:ea typeface="Times New Roman"/>
              </a:rPr>
              <a:t>Рисунок  5 – Результат локализации для кластера из 5 датчиков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TextBox 5"/>
          <p:cNvSpPr/>
          <p:nvPr/>
        </p:nvSpPr>
        <p:spPr>
          <a:xfrm>
            <a:off x="1665720" y="541800"/>
            <a:ext cx="11062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ru-RU" sz="1800" strike="noStrike" u="none">
                <a:solidFill>
                  <a:schemeClr val="lt1"/>
                </a:solidFill>
                <a:effectLst/>
                <a:uFillTx/>
                <a:latin typeface="Book Antiqua"/>
                <a:ea typeface="DejaVu Sans"/>
              </a:rPr>
              <a:t>Выводы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30" name="Группа 6"/>
          <p:cNvGrpSpPr/>
          <p:nvPr/>
        </p:nvGrpSpPr>
        <p:grpSpPr>
          <a:xfrm>
            <a:off x="0" y="427680"/>
            <a:ext cx="12034440" cy="609480"/>
            <a:chOff x="0" y="427680"/>
            <a:chExt cx="12034440" cy="609480"/>
          </a:xfrm>
        </p:grpSpPr>
        <p:pic>
          <p:nvPicPr>
            <p:cNvPr id="131" name="Рисунок 7" descr=""/>
            <p:cNvPicPr/>
            <p:nvPr/>
          </p:nvPicPr>
          <p:blipFill>
            <a:blip r:embed="rId1"/>
            <a:srcRect l="0" t="23835" r="0" b="55754"/>
            <a:stretch/>
          </p:blipFill>
          <p:spPr>
            <a:xfrm>
              <a:off x="10311840" y="427680"/>
              <a:ext cx="1722600" cy="60948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32" name="Пятиугольник 4"/>
            <p:cNvSpPr/>
            <p:nvPr/>
          </p:nvSpPr>
          <p:spPr>
            <a:xfrm>
              <a:off x="0" y="484920"/>
              <a:ext cx="7788240" cy="552240"/>
            </a:xfrm>
            <a:prstGeom prst="homePlate">
              <a:avLst>
                <a:gd name="adj" fmla="val 50000"/>
              </a:avLst>
            </a:prstGeom>
            <a:solidFill>
              <a:srgbClr val="256569"/>
            </a:solidFill>
            <a:ln w="126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ru-RU" sz="1800" strike="noStrike" u="none">
                <a:solidFill>
                  <a:schemeClr val="lt1"/>
                </a:solidFill>
                <a:effectLst/>
                <a:uFillTx/>
                <a:latin typeface="Calibri"/>
                <a:ea typeface="DejaVu Sans"/>
              </a:endParaRPr>
            </a:p>
          </p:txBody>
        </p:sp>
        <p:sp>
          <p:nvSpPr>
            <p:cNvPr id="133" name="TextBox 9"/>
            <p:cNvSpPr/>
            <p:nvPr/>
          </p:nvSpPr>
          <p:spPr>
            <a:xfrm>
              <a:off x="141120" y="588960"/>
              <a:ext cx="7298640" cy="363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spAutoFit/>
            </a:bodyPr>
            <a:p>
              <a:pPr defTabSz="457200">
                <a:lnSpc>
                  <a:spcPct val="100000"/>
                </a:lnSpc>
              </a:pPr>
              <a:r>
                <a:rPr b="1" lang="ru-RU" sz="1800" strike="noStrike" u="none">
                  <a:solidFill>
                    <a:schemeClr val="lt1"/>
                  </a:solidFill>
                  <a:effectLst/>
                  <a:uFillTx/>
                  <a:latin typeface="Book Antiqua"/>
                  <a:ea typeface="DejaVu Sans"/>
                </a:rPr>
                <a:t> Результаты выполнения задач по производственной практике</a:t>
              </a:r>
              <a:endPara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34" name=""/>
          <p:cNvSpPr/>
          <p:nvPr/>
        </p:nvSpPr>
        <p:spPr>
          <a:xfrm>
            <a:off x="360000" y="1404000"/>
            <a:ext cx="7073280" cy="180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600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Book Antiqua"/>
                <a:ea typeface="Times New Roman"/>
              </a:rPr>
              <a:t>Разработана модель обнаружения незарегистрированных Wi-Fi точек доступа и сформулированы требования к ПАК, ее реализующего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600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Book Antiqua"/>
                <a:ea typeface="Times New Roman"/>
              </a:rPr>
              <a:t>Получены результаты проведенного эксперимента для ПАК, реализующего разработанную модель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600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Book Antiqua"/>
                <a:ea typeface="Times New Roman"/>
              </a:rPr>
              <a:t>Разработан графический интерфейс оператора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600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Book Antiqua"/>
                <a:ea typeface="Times New Roman"/>
              </a:rPr>
              <a:t>Продемонстрирована возможность обнаружения фальшивых точек доступа путем сравнения радиоотпечатков с эталонными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35" name="" descr=""/>
          <p:cNvPicPr/>
          <p:nvPr/>
        </p:nvPicPr>
        <p:blipFill>
          <a:blip r:embed="rId2"/>
          <a:stretch/>
        </p:blipFill>
        <p:spPr>
          <a:xfrm>
            <a:off x="360000" y="3456720"/>
            <a:ext cx="5579280" cy="2842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36" name="" descr=""/>
          <p:cNvPicPr/>
          <p:nvPr/>
        </p:nvPicPr>
        <p:blipFill>
          <a:blip r:embed="rId3"/>
          <a:stretch/>
        </p:blipFill>
        <p:spPr>
          <a:xfrm>
            <a:off x="8100000" y="1080000"/>
            <a:ext cx="3239280" cy="2387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37" name="" descr=""/>
          <p:cNvPicPr/>
          <p:nvPr/>
        </p:nvPicPr>
        <p:blipFill>
          <a:blip r:embed="rId4"/>
          <a:stretch/>
        </p:blipFill>
        <p:spPr>
          <a:xfrm>
            <a:off x="6505200" y="3780000"/>
            <a:ext cx="5374080" cy="2562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8" name=""/>
          <p:cNvSpPr/>
          <p:nvPr/>
        </p:nvSpPr>
        <p:spPr>
          <a:xfrm>
            <a:off x="900000" y="6480000"/>
            <a:ext cx="4813560" cy="30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ru-RU" sz="1400" strike="noStrike" u="none">
                <a:solidFill>
                  <a:srgbClr val="535353"/>
                </a:solidFill>
                <a:effectLst/>
                <a:uFillTx/>
                <a:latin typeface="Book Antiqua"/>
                <a:ea typeface="Times New Roman"/>
              </a:rPr>
              <a:t>Рисунок  6 – Графический интерфейс оператора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"/>
          <p:cNvSpPr/>
          <p:nvPr/>
        </p:nvSpPr>
        <p:spPr>
          <a:xfrm>
            <a:off x="7425720" y="3474360"/>
            <a:ext cx="4813560" cy="30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ru-RU" sz="1400" strike="noStrike" u="none">
                <a:solidFill>
                  <a:srgbClr val="535353"/>
                </a:solidFill>
                <a:effectLst/>
                <a:uFillTx/>
                <a:latin typeface="Book Antiqua"/>
                <a:ea typeface="Times New Roman"/>
              </a:rPr>
              <a:t>Рисунок  7 – Фотография сенсорного узла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"/>
          <p:cNvSpPr/>
          <p:nvPr/>
        </p:nvSpPr>
        <p:spPr>
          <a:xfrm>
            <a:off x="6480000" y="6480000"/>
            <a:ext cx="5399280" cy="51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ru-RU" sz="1400" strike="noStrike" u="none">
                <a:solidFill>
                  <a:srgbClr val="535353"/>
                </a:solidFill>
                <a:effectLst/>
                <a:uFillTx/>
                <a:latin typeface="Book Antiqua"/>
                <a:ea typeface="Times New Roman"/>
              </a:rPr>
              <a:t>Рисунок  8 – Выявление по несовпадающим радиопрофилям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Тема 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6608</TotalTime>
  <Application>LibreOffice/25.2.7.2$Windows_X86_64 LibreOffice_project/5cbfd1ab6520636bb5f7b99185aa69bd7456825d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2016-09-22T16:49:19Z</dcterms:created>
  <dc:creator>Windows User</dc:creator>
  <dc:description/>
  <dc:language>ru-RU</dc:language>
  <cp:lastModifiedBy/>
  <dcterms:modified xsi:type="dcterms:W3CDTF">2026-05-14T21:39:32Z</dcterms:modified>
  <cp:revision>45</cp:revision>
  <dc:subject/>
  <dc:title>Презентация PowerPoint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0x010100D152A4D475B3F94B9A44EC35E28A4960</vt:lpwstr>
  </property>
  <property fmtid="{D5CDD505-2E9C-101B-9397-08002B2CF9AE}" pid="3" name="Notes">
    <vt:r8>7</vt:r8>
  </property>
  <property fmtid="{D5CDD505-2E9C-101B-9397-08002B2CF9AE}" pid="4" name="PresentationFormat">
    <vt:lpwstr>Широкоэкранный</vt:lpwstr>
  </property>
  <property fmtid="{D5CDD505-2E9C-101B-9397-08002B2CF9AE}" pid="5" name="Slides">
    <vt:r8>12</vt:r8>
  </property>
</Properties>
</file>